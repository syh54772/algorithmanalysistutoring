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9" r:id="rId13"/>
    <p:sldId id="264" r:id="rId14"/>
    <p:sldId id="270" r:id="rId15"/>
    <p:sldId id="271" r:id="rId16"/>
    <p:sldId id="272" r:id="rId17"/>
    <p:sldId id="273" r:id="rId18"/>
    <p:sldId id="274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2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B7F5233-593B-498D-A44E-84263C661A7B}" type="datetimeFigureOut">
              <a:rPr lang="ko-KR" altLang="en-US" smtClean="0"/>
              <a:t>2016-08-14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5D9856-E8B9-48B3-A739-86769A2EC1D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580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5233-593B-498D-A44E-84263C661A7B}" type="datetimeFigureOut">
              <a:rPr lang="ko-KR" altLang="en-US" smtClean="0"/>
              <a:t>2016-08-14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9856-E8B9-48B3-A739-86769A2EC1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6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5233-593B-498D-A44E-84263C661A7B}" type="datetimeFigureOut">
              <a:rPr lang="ko-KR" altLang="en-US" smtClean="0"/>
              <a:t>2016-08-14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9856-E8B9-48B3-A739-86769A2EC1D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007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5233-593B-498D-A44E-84263C661A7B}" type="datetimeFigureOut">
              <a:rPr lang="ko-KR" altLang="en-US" smtClean="0"/>
              <a:t>2016-08-14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9856-E8B9-48B3-A739-86769A2EC1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21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5233-593B-498D-A44E-84263C661A7B}" type="datetimeFigureOut">
              <a:rPr lang="ko-KR" altLang="en-US" smtClean="0"/>
              <a:t>2016-08-14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9856-E8B9-48B3-A739-86769A2EC1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091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5233-593B-498D-A44E-84263C661A7B}" type="datetimeFigureOut">
              <a:rPr lang="ko-KR" altLang="en-US" smtClean="0"/>
              <a:t>2016-08-14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9856-E8B9-48B3-A739-86769A2EC1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504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5233-593B-498D-A44E-84263C661A7B}" type="datetimeFigureOut">
              <a:rPr lang="ko-KR" altLang="en-US" smtClean="0"/>
              <a:t>2016-08-14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9856-E8B9-48B3-A739-86769A2EC1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627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5233-593B-498D-A44E-84263C661A7B}" type="datetimeFigureOut">
              <a:rPr lang="ko-KR" altLang="en-US" smtClean="0"/>
              <a:t>2016-08-14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9856-E8B9-48B3-A739-86769A2EC1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760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5233-593B-498D-A44E-84263C661A7B}" type="datetimeFigureOut">
              <a:rPr lang="ko-KR" altLang="en-US" smtClean="0"/>
              <a:t>2016-08-14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9856-E8B9-48B3-A739-86769A2EC1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887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5233-593B-498D-A44E-84263C661A7B}" type="datetimeFigureOut">
              <a:rPr lang="ko-KR" altLang="en-US" smtClean="0"/>
              <a:t>2016-08-14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9856-E8B9-48B3-A739-86769A2EC1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823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5233-593B-498D-A44E-84263C661A7B}" type="datetimeFigureOut">
              <a:rPr lang="ko-KR" altLang="en-US" smtClean="0"/>
              <a:t>2016-08-14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9856-E8B9-48B3-A739-86769A2EC1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811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8B7F5233-593B-498D-A44E-84263C661A7B}" type="datetimeFigureOut">
              <a:rPr lang="ko-KR" altLang="en-US" smtClean="0"/>
              <a:t>2016-08-14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285D9856-E8B9-48B3-A739-86769A2EC1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304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1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en-US" altLang="ko-KR" dirty="0"/>
              <a:t>Generics &amp;</a:t>
            </a:r>
            <a:br>
              <a:rPr lang="en-US" altLang="ko-KR" dirty="0"/>
            </a:br>
            <a:r>
              <a:rPr lang="en-US" altLang="ko-KR" dirty="0"/>
              <a:t>Collection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ko-KR" dirty="0"/>
              <a:t>Java Tutorial #2</a:t>
            </a:r>
          </a:p>
          <a:p>
            <a:pPr algn="r"/>
            <a:r>
              <a:rPr lang="ko-KR" altLang="en-US" dirty="0"/>
              <a:t>신용호</a:t>
            </a:r>
            <a:endParaRPr lang="en-US" altLang="ko-KR" dirty="0"/>
          </a:p>
          <a:p>
            <a:pPr algn="r"/>
            <a:r>
              <a:rPr lang="ko-KR" altLang="en-US" dirty="0"/>
              <a:t>컴퓨터과학과 </a:t>
            </a:r>
            <a:r>
              <a:rPr lang="en-US" altLang="ko-KR" dirty="0"/>
              <a:t>12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9379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2920" indent="-457200">
              <a:buFont typeface="+mj-lt"/>
              <a:buAutoNum type="arabicPeriod"/>
            </a:pPr>
            <a:r>
              <a:rPr lang="ko-KR" altLang="en-US" dirty="0"/>
              <a:t>들어가기</a:t>
            </a:r>
            <a:endParaRPr lang="en-US" altLang="ko-KR" dirty="0"/>
          </a:p>
          <a:p>
            <a:pPr marL="502920" indent="-457200">
              <a:buFont typeface="+mj-lt"/>
              <a:buAutoNum type="arabicPeriod"/>
            </a:pPr>
            <a:r>
              <a:rPr lang="en-US" altLang="ko-KR" dirty="0"/>
              <a:t>List&lt;T&gt;</a:t>
            </a:r>
          </a:p>
          <a:p>
            <a:pPr marL="502920" indent="-457200">
              <a:buFont typeface="+mj-lt"/>
              <a:buAutoNum type="arabicPeriod"/>
            </a:pPr>
            <a:r>
              <a:rPr lang="en-US" altLang="ko-KR" dirty="0"/>
              <a:t>Set&lt;T&gt;</a:t>
            </a:r>
          </a:p>
          <a:p>
            <a:pPr marL="502920" indent="-457200">
              <a:buFont typeface="+mj-lt"/>
              <a:buAutoNum type="arabicPeriod"/>
            </a:pPr>
            <a:r>
              <a:rPr lang="en-US" altLang="ko-KR" dirty="0"/>
              <a:t>Map&lt;T, V&gt;</a:t>
            </a:r>
          </a:p>
          <a:p>
            <a:pPr marL="502920" indent="-457200">
              <a:buFont typeface="+mj-lt"/>
              <a:buAutoNum type="arabicPeriod"/>
            </a:pPr>
            <a:r>
              <a:rPr lang="ko-KR" altLang="en-US" dirty="0"/>
              <a:t>정렬</a:t>
            </a:r>
            <a:endParaRPr lang="en-US" altLang="ko-KR" dirty="0"/>
          </a:p>
          <a:p>
            <a:pPr marL="502920" indent="-457200">
              <a:buFont typeface="+mj-lt"/>
              <a:buAutoNum type="arabicPeriod"/>
            </a:pPr>
            <a:r>
              <a:rPr lang="ko-KR" altLang="en-US" dirty="0"/>
              <a:t>묻고 답하기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55942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들어가기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</a:p>
          <a:p>
            <a:r>
              <a:rPr lang="en-US" altLang="ko-KR" dirty="0"/>
              <a:t>Collection</a:t>
            </a:r>
            <a:r>
              <a:rPr lang="ko-KR" altLang="en-US" dirty="0"/>
              <a:t>과 </a:t>
            </a:r>
            <a:r>
              <a:rPr lang="en-US" altLang="ko-KR" dirty="0"/>
              <a:t>Generics </a:t>
            </a:r>
            <a:r>
              <a:rPr lang="ko-KR" altLang="en-US" dirty="0"/>
              <a:t>이해하기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97241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자료구조 잘 알죠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여기서 기본적인 자료구조에 대해서 설명하지는 않겠습니다만</a:t>
            </a:r>
            <a:br>
              <a:rPr lang="en-US" altLang="ko-KR" dirty="0"/>
            </a:br>
            <a:r>
              <a:rPr lang="ko-KR" altLang="en-US" dirty="0"/>
              <a:t>적절한 자료구조가 효율적인 프로그램을 만든다는 것은 너무도 자명합니다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Java</a:t>
            </a:r>
            <a:r>
              <a:rPr lang="ko-KR" altLang="en-US" dirty="0"/>
              <a:t>와 같은 객체지향언어에서는 객체를 효율적으로 운용할 필요가 있죠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C</a:t>
            </a:r>
            <a:r>
              <a:rPr lang="ko-KR" altLang="en-US" dirty="0"/>
              <a:t>에서는 구조체</a:t>
            </a:r>
            <a:r>
              <a:rPr lang="en-US" altLang="ko-KR" dirty="0"/>
              <a:t>(</a:t>
            </a:r>
            <a:r>
              <a:rPr lang="en-US" altLang="ko-KR" dirty="0" err="1"/>
              <a:t>struct</a:t>
            </a:r>
            <a:r>
              <a:rPr lang="en-US" altLang="ko-KR" dirty="0"/>
              <a:t>)</a:t>
            </a:r>
            <a:r>
              <a:rPr lang="ko-KR" altLang="en-US" dirty="0"/>
              <a:t>를 직접 가지고 놀았을 테고</a:t>
            </a:r>
            <a:br>
              <a:rPr lang="en-US" altLang="ko-KR" dirty="0"/>
            </a:br>
            <a:r>
              <a:rPr lang="en-US" altLang="ko-KR" dirty="0"/>
              <a:t>C++</a:t>
            </a:r>
            <a:r>
              <a:rPr lang="ko-KR" altLang="en-US" dirty="0"/>
              <a:t>에서는 </a:t>
            </a:r>
            <a:r>
              <a:rPr lang="en-US" altLang="ko-KR" dirty="0"/>
              <a:t>STL</a:t>
            </a:r>
            <a:r>
              <a:rPr lang="ko-KR" altLang="en-US" dirty="0"/>
              <a:t>이라는 아름다운 라이브러리를 선물 받았지요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그러면 </a:t>
            </a:r>
            <a:r>
              <a:rPr lang="en-US" altLang="ko-KR" dirty="0"/>
              <a:t>Java</a:t>
            </a:r>
            <a:r>
              <a:rPr lang="ko-KR" altLang="en-US" dirty="0"/>
              <a:t>에서는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Java</a:t>
            </a:r>
            <a:r>
              <a:rPr lang="ko-KR" altLang="en-US" dirty="0"/>
              <a:t>에는 </a:t>
            </a:r>
            <a:r>
              <a:rPr lang="en-US" altLang="ko-KR" dirty="0"/>
              <a:t>Collection</a:t>
            </a:r>
            <a:r>
              <a:rPr lang="ko-KR" altLang="en-US" dirty="0"/>
              <a:t>이 있답니다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4748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Collection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오른쪽</a:t>
            </a:r>
            <a:r>
              <a:rPr lang="en-US" altLang="ko-KR" dirty="0"/>
              <a:t> </a:t>
            </a:r>
            <a:r>
              <a:rPr lang="ko-KR" altLang="en-US" dirty="0"/>
              <a:t>그림이 </a:t>
            </a:r>
            <a:r>
              <a:rPr lang="en-US" altLang="ko-KR" dirty="0"/>
              <a:t>Java</a:t>
            </a:r>
            <a:r>
              <a:rPr lang="ko-KR" altLang="en-US" dirty="0"/>
              <a:t>에서 제공하는 </a:t>
            </a:r>
            <a:r>
              <a:rPr lang="en-US" altLang="ko-KR" dirty="0"/>
              <a:t>Collection</a:t>
            </a:r>
            <a:r>
              <a:rPr lang="ko-KR" altLang="en-US" dirty="0"/>
              <a:t>을 나열한 것들입니다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우리가 무엇을 더 작성해야하는 것이 아니냐고요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걱정 마세요</a:t>
            </a:r>
            <a:r>
              <a:rPr lang="en-US" altLang="ko-KR" dirty="0"/>
              <a:t>. </a:t>
            </a:r>
            <a:r>
              <a:rPr lang="ko-KR" altLang="en-US" dirty="0"/>
              <a:t>이미 다 완성되어 있으니까요</a:t>
            </a:r>
            <a:r>
              <a:rPr lang="en-US" altLang="ko-KR" dirty="0"/>
              <a:t>. </a:t>
            </a:r>
            <a:r>
              <a:rPr lang="ko-KR" altLang="en-US" dirty="0"/>
              <a:t>우리는 적절하게 사용하기만 하면 된답니다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ko-KR" altLang="en-US" dirty="0"/>
              <a:t>그런데 그 안에 어떤 것을 담을 줄 알고 이렇게 만들었을까요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1026" name="Picture 2" descr="http://4.bp.blogspot.com/-DvsfKh9clI0/UU3sK7J17jI/AAAAAAAAARU/VnHJDjImzw4/s1600/java-collection-hierarchy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50" y="2248555"/>
            <a:ext cx="4754563" cy="3640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4597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몰라요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어떤 타입이 자료구조를 이루게 될지 미리 알 수 없지요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그렇다고 모든 경우에 대해서 만들자니 너무 많기도 하고요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프로그래머가 따로 구현한 객체들도 담아야 하는데 그건 어떻게 담나요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11" name="내용 개체 틀 10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14534" y="4232910"/>
            <a:ext cx="2466975" cy="184785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79192">
            <a:off x="1458876" y="2178880"/>
            <a:ext cx="1101571" cy="1944961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4"/>
          <a:srcRect l="24756" r="30464"/>
          <a:stretch/>
        </p:blipFill>
        <p:spPr>
          <a:xfrm rot="20424175">
            <a:off x="2889806" y="2064761"/>
            <a:ext cx="876453" cy="2106816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5"/>
          <a:srcRect l="27662" r="31001"/>
          <a:stretch/>
        </p:blipFill>
        <p:spPr>
          <a:xfrm rot="813436">
            <a:off x="4316330" y="2047598"/>
            <a:ext cx="823912" cy="19931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947061" y="4649003"/>
            <a:ext cx="444616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6350"/>
            </a:sp3d>
          </a:bodyPr>
          <a:lstStyle/>
          <a:p>
            <a:r>
              <a:rPr lang="en-US" altLang="ko-KR" sz="6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ko-KR" altLang="en-US" sz="60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685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Generics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142999" y="2057399"/>
            <a:ext cx="5450747" cy="4023360"/>
          </a:xfrm>
        </p:spPr>
        <p:txBody>
          <a:bodyPr/>
          <a:lstStyle/>
          <a:p>
            <a:r>
              <a:rPr lang="ko-KR" altLang="en-US" dirty="0"/>
              <a:t>그냥 모른 채로 두세요</a:t>
            </a:r>
            <a:endParaRPr lang="en-US" altLang="ko-KR" dirty="0"/>
          </a:p>
          <a:p>
            <a:r>
              <a:rPr lang="ko-KR" altLang="en-US" dirty="0"/>
              <a:t>대신 자료 구조 안에는 모두 똑같은 타입의 객체로만 이루어져 있겠죠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C++</a:t>
            </a:r>
            <a:r>
              <a:rPr lang="ko-KR" altLang="en-US" dirty="0"/>
              <a:t>에서의 </a:t>
            </a:r>
            <a:r>
              <a:rPr lang="en-US" altLang="ko-KR" dirty="0"/>
              <a:t>Template</a:t>
            </a:r>
            <a:r>
              <a:rPr lang="ko-KR" altLang="en-US" dirty="0"/>
              <a:t>처럼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Java</a:t>
            </a:r>
            <a:r>
              <a:rPr lang="ko-KR" altLang="en-US" dirty="0"/>
              <a:t>에는 </a:t>
            </a:r>
            <a:r>
              <a:rPr lang="en-US" altLang="ko-KR" dirty="0"/>
              <a:t>Generics</a:t>
            </a:r>
            <a:r>
              <a:rPr lang="ko-KR" altLang="en-US" dirty="0"/>
              <a:t>라고 합니다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메소드에</a:t>
            </a:r>
            <a:r>
              <a:rPr lang="ko-KR" altLang="en-US" dirty="0"/>
              <a:t> 선언해서 해당 </a:t>
            </a:r>
            <a:r>
              <a:rPr lang="ko-KR" altLang="en-US" dirty="0" err="1"/>
              <a:t>메소드에만</a:t>
            </a:r>
            <a:r>
              <a:rPr lang="ko-KR" altLang="en-US" dirty="0"/>
              <a:t> 적용할 수 있고요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클래스에 선언해서 클래스 전체에 적용할 수도 있어요</a:t>
            </a:r>
            <a:r>
              <a:rPr lang="en-US" altLang="ko-KR" dirty="0"/>
              <a:t>!</a:t>
            </a:r>
            <a:endParaRPr lang="ko-KR" altLang="en-US" dirty="0"/>
          </a:p>
        </p:txBody>
      </p:sp>
      <p:pic>
        <p:nvPicPr>
          <p:cNvPr id="3074" name="Picture 2" descr="http://rlv.zcache.com/generic_cup_t_two_tone_coffee_mug-r7c48f083b41b43c69a58c1568d361ce7_x7j1l_8byvr_630.jpg?view_padding=%5B285%2C0%2C285%2C0%5D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79" r="27997"/>
          <a:stretch/>
        </p:blipFill>
        <p:spPr bwMode="auto">
          <a:xfrm>
            <a:off x="8086985" y="2534255"/>
            <a:ext cx="2407641" cy="354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897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잠깐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Collection</a:t>
            </a:r>
            <a:r>
              <a:rPr lang="ko-KR" altLang="en-US" dirty="0"/>
              <a:t>은 </a:t>
            </a:r>
            <a:r>
              <a:rPr lang="en-US" altLang="ko-KR" dirty="0"/>
              <a:t>Generics</a:t>
            </a:r>
            <a:r>
              <a:rPr lang="ko-KR" altLang="en-US" dirty="0"/>
              <a:t>를 사용하기 때문에</a:t>
            </a:r>
            <a:br>
              <a:rPr lang="en-US" altLang="ko-KR" dirty="0"/>
            </a:br>
            <a:r>
              <a:rPr lang="ko-KR" altLang="en-US" dirty="0"/>
              <a:t>반드시 객체만 받을 수 있어요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int</a:t>
            </a:r>
            <a:r>
              <a:rPr lang="en-US" altLang="ko-KR" dirty="0"/>
              <a:t>, double</a:t>
            </a:r>
            <a:r>
              <a:rPr lang="ko-KR" altLang="en-US" dirty="0"/>
              <a:t>과 같은 </a:t>
            </a:r>
            <a:r>
              <a:rPr lang="en-US" altLang="ko-KR" dirty="0"/>
              <a:t>primitive type</a:t>
            </a:r>
            <a:r>
              <a:rPr lang="ko-KR" altLang="en-US" dirty="0"/>
              <a:t>은 사용할 수 없답니다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대신 </a:t>
            </a:r>
            <a:r>
              <a:rPr lang="en-US" altLang="ko-KR" dirty="0"/>
              <a:t>Integer, Double</a:t>
            </a:r>
            <a:r>
              <a:rPr lang="ko-KR" altLang="en-US" dirty="0"/>
              <a:t>과 같은 </a:t>
            </a:r>
            <a:r>
              <a:rPr lang="en-US" altLang="ko-KR" dirty="0"/>
              <a:t>Wrapper </a:t>
            </a:r>
            <a:r>
              <a:rPr lang="ko-KR" altLang="en-US" dirty="0"/>
              <a:t>클래스를 사용하면 됩니다</a:t>
            </a:r>
            <a:r>
              <a:rPr lang="en-US" altLang="ko-KR" dirty="0"/>
              <a:t>.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rcRect l="12721" t="36743" r="16675"/>
          <a:stretch/>
        </p:blipFill>
        <p:spPr>
          <a:xfrm>
            <a:off x="6979485" y="4035105"/>
            <a:ext cx="4036386" cy="215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882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들어가기 앞서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우리를 도와줄 객체를 하나 만들려고 해요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바로 정점</a:t>
            </a:r>
            <a:r>
              <a:rPr lang="en-US" altLang="ko-KR" dirty="0"/>
              <a:t>(Point) </a:t>
            </a:r>
            <a:r>
              <a:rPr lang="ko-KR" altLang="en-US" dirty="0" err="1"/>
              <a:t>객체랍니다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정점 객체는 </a:t>
            </a:r>
            <a:r>
              <a:rPr lang="en-US" altLang="ko-KR" dirty="0"/>
              <a:t>double x</a:t>
            </a:r>
            <a:r>
              <a:rPr lang="ko-KR" altLang="en-US" dirty="0"/>
              <a:t>와 </a:t>
            </a:r>
            <a:r>
              <a:rPr lang="en-US" altLang="ko-KR" dirty="0"/>
              <a:t>double y</a:t>
            </a:r>
            <a:r>
              <a:rPr lang="ko-KR" altLang="en-US" dirty="0"/>
              <a:t>를 필드로 가져요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한번 직접 만들어 볼까요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Getter</a:t>
            </a:r>
            <a:r>
              <a:rPr lang="ko-KR" altLang="en-US" dirty="0"/>
              <a:t>와 </a:t>
            </a:r>
            <a:r>
              <a:rPr lang="en-US" altLang="ko-KR" dirty="0"/>
              <a:t>Setter</a:t>
            </a:r>
            <a:r>
              <a:rPr lang="ko-KR" altLang="en-US" dirty="0"/>
              <a:t>도 있어야 겠고</a:t>
            </a:r>
            <a:r>
              <a:rPr lang="en-US" altLang="ko-KR" dirty="0"/>
              <a:t>, </a:t>
            </a:r>
            <a:r>
              <a:rPr lang="ko-KR" altLang="en-US" dirty="0"/>
              <a:t>적절한 </a:t>
            </a:r>
            <a:r>
              <a:rPr lang="ko-KR" altLang="en-US" dirty="0" err="1"/>
              <a:t>생성자도</a:t>
            </a:r>
            <a:r>
              <a:rPr lang="ko-KR" altLang="en-US" dirty="0"/>
              <a:t> 만들어줘야 하겠네요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자동 완성 기능을 활용하면 훨씬 편리하답니다</a:t>
            </a:r>
            <a:r>
              <a:rPr lang="en-US" altLang="ko-KR" dirty="0"/>
              <a:t>.</a:t>
            </a:r>
          </a:p>
        </p:txBody>
      </p:sp>
      <p:pic>
        <p:nvPicPr>
          <p:cNvPr id="4098" name="Picture 2" descr="https://upload.wikimedia.org/wikipedia/commons/thumb/5/59/2D_Cartesian_Coordinates.svg/376px-2D_Cartesian_Coordinates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0893" y="846239"/>
            <a:ext cx="3581400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6587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이렇게 만들었나요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0704" y="2057400"/>
            <a:ext cx="4097255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779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main</a:t>
            </a:r>
            <a:r>
              <a:rPr lang="ko-KR" altLang="en-US" dirty="0"/>
              <a:t>함수가 필요해요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프로그램을 돌리려면 </a:t>
            </a:r>
            <a:r>
              <a:rPr lang="en-US" altLang="ko-KR" dirty="0"/>
              <a:t>main</a:t>
            </a:r>
            <a:r>
              <a:rPr lang="ko-KR" altLang="en-US" dirty="0"/>
              <a:t>함수가 필요하죠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각자 </a:t>
            </a:r>
            <a:r>
              <a:rPr lang="en-US" altLang="ko-KR" dirty="0"/>
              <a:t>main</a:t>
            </a:r>
            <a:r>
              <a:rPr lang="ko-KR" altLang="en-US" dirty="0"/>
              <a:t>함수를 알아서 만들어 보세요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일단 </a:t>
            </a:r>
            <a:r>
              <a:rPr lang="en-US" altLang="ko-KR" dirty="0"/>
              <a:t>Java</a:t>
            </a:r>
            <a:r>
              <a:rPr lang="ko-KR" altLang="en-US" dirty="0"/>
              <a:t>는 모두 객체로만 구성이 되어야 하니까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새로운 클래스를 생성해야 겠죠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클래스를 만들 때 </a:t>
            </a:r>
            <a:r>
              <a:rPr lang="en-US" altLang="ko-KR" dirty="0"/>
              <a:t>Which method stubs would you like to create?</a:t>
            </a:r>
            <a:r>
              <a:rPr lang="ko-KR" altLang="en-US" dirty="0"/>
              <a:t>에서</a:t>
            </a:r>
            <a:br>
              <a:rPr lang="en-US" altLang="ko-KR" dirty="0"/>
            </a:br>
            <a:r>
              <a:rPr lang="ko-KR" altLang="en-US" dirty="0"/>
              <a:t>첫 번째를 클릭하면 </a:t>
            </a:r>
            <a:r>
              <a:rPr lang="en-US" altLang="ko-KR" dirty="0"/>
              <a:t>main</a:t>
            </a:r>
            <a:r>
              <a:rPr lang="ko-KR" altLang="en-US" dirty="0"/>
              <a:t>함수를 자동으로 생성해 준답니다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1594" y="899938"/>
            <a:ext cx="1762125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564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정점을 정의하죠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142999" y="2057399"/>
            <a:ext cx="4888685" cy="4023360"/>
          </a:xfrm>
        </p:spPr>
        <p:txBody>
          <a:bodyPr/>
          <a:lstStyle/>
          <a:p>
            <a:r>
              <a:rPr lang="ko-KR" altLang="en-US" dirty="0"/>
              <a:t>이제 </a:t>
            </a:r>
            <a:r>
              <a:rPr lang="en-US" altLang="ko-KR" dirty="0"/>
              <a:t>main</a:t>
            </a:r>
            <a:r>
              <a:rPr lang="ko-KR" altLang="en-US" dirty="0"/>
              <a:t>함수 안에 정점을 정의하죠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저는 오른쪽 코드처럼 정의하였답니다</a:t>
            </a:r>
            <a:r>
              <a:rPr lang="en-US" altLang="ko-KR" dirty="0"/>
              <a:t>. </a:t>
            </a:r>
            <a:r>
              <a:rPr lang="ko-KR" altLang="en-US" dirty="0"/>
              <a:t>꼭 저와 같이 하실 필요는 없어요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p3</a:t>
            </a:r>
            <a:r>
              <a:rPr lang="ko-KR" altLang="en-US" dirty="0"/>
              <a:t>과 </a:t>
            </a:r>
            <a:r>
              <a:rPr lang="en-US" altLang="ko-KR" dirty="0"/>
              <a:t>p5</a:t>
            </a:r>
            <a:r>
              <a:rPr lang="ko-KR" altLang="en-US" dirty="0"/>
              <a:t>처럼 하나는 꼭 동일한 정점을 만들어 주세요</a:t>
            </a:r>
            <a:r>
              <a:rPr lang="en-US" altLang="ko-KR" dirty="0"/>
              <a:t>!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67450" y="3313651"/>
            <a:ext cx="6110028" cy="123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961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List&lt;t&gt;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 번째 자료구조</a:t>
            </a:r>
            <a:endParaRPr lang="en-US" altLang="ko-KR" dirty="0"/>
          </a:p>
          <a:p>
            <a:r>
              <a:rPr lang="ko-KR" altLang="en-US" dirty="0"/>
              <a:t>여러가지 </a:t>
            </a:r>
            <a:r>
              <a:rPr lang="ko-KR" altLang="en-US" dirty="0" err="1"/>
              <a:t>반복문</a:t>
            </a:r>
            <a:endParaRPr lang="en-US" altLang="ko-KR" dirty="0"/>
          </a:p>
          <a:p>
            <a:r>
              <a:rPr lang="en-US" altLang="ko-KR" dirty="0"/>
              <a:t>Object </a:t>
            </a:r>
            <a:r>
              <a:rPr lang="ko-KR" altLang="en-US" dirty="0"/>
              <a:t>객체와 </a:t>
            </a:r>
            <a:r>
              <a:rPr lang="en-US" altLang="ko-KR" dirty="0" err="1"/>
              <a:t>toString</a:t>
            </a:r>
            <a:r>
              <a:rPr lang="en-US" altLang="ko-KR" dirty="0"/>
              <a:t> </a:t>
            </a:r>
            <a:r>
              <a:rPr lang="ko-KR" altLang="en-US" dirty="0"/>
              <a:t>함수</a:t>
            </a:r>
          </a:p>
        </p:txBody>
      </p:sp>
    </p:spTree>
    <p:extLst>
      <p:ext uri="{BB962C8B-B14F-4D97-AF65-F5344CB8AC3E}">
        <p14:creationId xmlns:p14="http://schemas.microsoft.com/office/powerpoint/2010/main" val="1101680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이제 자료구조를 만들어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143001" y="2057400"/>
            <a:ext cx="9879492" cy="4023360"/>
          </a:xfrm>
        </p:spPr>
        <p:txBody>
          <a:bodyPr/>
          <a:lstStyle/>
          <a:p>
            <a:r>
              <a:rPr lang="ko-KR" altLang="en-US" dirty="0"/>
              <a:t>아래의 코드를 입력해 봅시다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이런 빨간 줄이 생겼어요</a:t>
            </a:r>
            <a:r>
              <a:rPr lang="en-US" altLang="ko-KR" dirty="0"/>
              <a:t>! </a:t>
            </a:r>
            <a:r>
              <a:rPr lang="ko-KR" altLang="en-US" dirty="0"/>
              <a:t>왜 그런 것일까요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객체를 사용하려면 그 객체가 들어 있는 라이브러리가</a:t>
            </a:r>
            <a:r>
              <a:rPr lang="en-US" altLang="ko-KR" dirty="0"/>
              <a:t> </a:t>
            </a:r>
            <a:r>
              <a:rPr lang="ko-KR" altLang="en-US" dirty="0"/>
              <a:t>필요하기 때문이지요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그런데 직접 넣으려고요</a:t>
            </a:r>
            <a:r>
              <a:rPr lang="en-US" altLang="ko-KR" dirty="0"/>
              <a:t>? </a:t>
            </a:r>
            <a:r>
              <a:rPr lang="ko-KR" altLang="en-US" dirty="0"/>
              <a:t>어디에 있는 줄 아시고</a:t>
            </a:r>
            <a:r>
              <a:rPr lang="en-US" altLang="ko-KR" dirty="0"/>
              <a:t>….</a:t>
            </a:r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t="1" r="14182" b="20413"/>
          <a:stretch/>
        </p:blipFill>
        <p:spPr>
          <a:xfrm>
            <a:off x="1889622" y="2592199"/>
            <a:ext cx="5064852" cy="26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543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 똑똑한 </a:t>
            </a:r>
            <a:r>
              <a:rPr lang="en-US" altLang="ko-KR" dirty="0"/>
              <a:t>Eclipse~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빨간 줄에 마우스를 갖다 대면</a:t>
            </a:r>
            <a:br>
              <a:rPr lang="en-US" altLang="ko-KR" dirty="0"/>
            </a:br>
            <a:r>
              <a:rPr lang="ko-KR" altLang="en-US" dirty="0"/>
              <a:t>창이 하나 생겨요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여러 가지 항목 중에서</a:t>
            </a:r>
            <a:br>
              <a:rPr lang="en-US" altLang="ko-KR" dirty="0"/>
            </a:br>
            <a:r>
              <a:rPr lang="en-US" altLang="ko-KR" dirty="0"/>
              <a:t>Import ‘List’ (</a:t>
            </a:r>
            <a:r>
              <a:rPr lang="en-US" altLang="ko-KR" dirty="0" err="1"/>
              <a:t>java.util</a:t>
            </a:r>
            <a:r>
              <a:rPr lang="en-US" altLang="ko-KR" dirty="0"/>
              <a:t>) 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클릭</a:t>
            </a:r>
            <a:r>
              <a:rPr lang="en-US" altLang="ko-KR" dirty="0"/>
              <a:t>!</a:t>
            </a:r>
            <a:br>
              <a:rPr lang="en-US" altLang="ko-KR" dirty="0"/>
            </a:br>
            <a:r>
              <a:rPr lang="ko-KR" altLang="en-US" dirty="0"/>
              <a:t>절대 </a:t>
            </a:r>
            <a:r>
              <a:rPr lang="en-US" altLang="ko-KR" dirty="0" err="1"/>
              <a:t>java.awt</a:t>
            </a:r>
            <a:r>
              <a:rPr lang="ko-KR" altLang="en-US" dirty="0"/>
              <a:t>가 아니에요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ko-KR" altLang="en-US" dirty="0"/>
              <a:t>그러면 오른쪽과 같이 자동으로</a:t>
            </a:r>
            <a:r>
              <a:rPr lang="en-US" altLang="ko-KR" dirty="0"/>
              <a:t> import</a:t>
            </a:r>
            <a:r>
              <a:rPr lang="ko-KR" altLang="en-US" dirty="0"/>
              <a:t>된 것을 확인할 수 있어요</a:t>
            </a:r>
            <a:r>
              <a:rPr lang="en-US" altLang="ko-KR" dirty="0"/>
              <a:t>.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r="52996"/>
          <a:stretch/>
        </p:blipFill>
        <p:spPr>
          <a:xfrm>
            <a:off x="6543906" y="3375707"/>
            <a:ext cx="4474614" cy="69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96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좀 더 뜯어볼까요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16235" b="-1180"/>
          <a:stretch/>
        </p:blipFill>
        <p:spPr>
          <a:xfrm>
            <a:off x="866163" y="3858935"/>
            <a:ext cx="5040286" cy="335559"/>
          </a:xfrm>
          <a:prstGeom prst="rect">
            <a:avLst/>
          </a:prstGeom>
        </p:spPr>
      </p:pic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40417" y="2057400"/>
            <a:ext cx="4982075" cy="4023360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List</a:t>
            </a:r>
            <a:r>
              <a:rPr lang="ko-KR" altLang="en-US" dirty="0"/>
              <a:t>는 </a:t>
            </a:r>
            <a:r>
              <a:rPr lang="ko-KR" altLang="en-US" dirty="0" err="1"/>
              <a:t>인터페이스에요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List </a:t>
            </a:r>
            <a:r>
              <a:rPr lang="ko-KR" altLang="en-US" dirty="0"/>
              <a:t>자료구조에 필요한 체크리스트를 담고있지요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ArrayList</a:t>
            </a:r>
            <a:r>
              <a:rPr lang="ko-KR" altLang="en-US" dirty="0"/>
              <a:t>는 </a:t>
            </a:r>
            <a:r>
              <a:rPr lang="en-US" altLang="ko-KR" dirty="0"/>
              <a:t>Java</a:t>
            </a:r>
            <a:r>
              <a:rPr lang="ko-KR" altLang="en-US" dirty="0"/>
              <a:t>가 기본적으로 제공해주는 </a:t>
            </a:r>
            <a:r>
              <a:rPr lang="en-US" altLang="ko-KR" dirty="0"/>
              <a:t>List </a:t>
            </a:r>
            <a:r>
              <a:rPr lang="ko-KR" altLang="en-US" dirty="0" err="1"/>
              <a:t>클래스랍니다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이외에도 </a:t>
            </a:r>
            <a:r>
              <a:rPr lang="en-US" altLang="ko-KR" dirty="0" err="1"/>
              <a:t>LinkedList</a:t>
            </a:r>
            <a:r>
              <a:rPr lang="en-US" altLang="ko-KR" dirty="0"/>
              <a:t> </a:t>
            </a:r>
            <a:r>
              <a:rPr lang="ko-KR" altLang="en-US" dirty="0"/>
              <a:t>등이 있어요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필요하다면 직접 </a:t>
            </a:r>
            <a:r>
              <a:rPr lang="en-US" altLang="ko-KR" dirty="0"/>
              <a:t>List</a:t>
            </a:r>
            <a:r>
              <a:rPr lang="ko-KR" altLang="en-US" dirty="0"/>
              <a:t>를 구현하는 자신만의 </a:t>
            </a:r>
            <a:r>
              <a:rPr lang="en-US" altLang="ko-KR" dirty="0"/>
              <a:t>List </a:t>
            </a:r>
            <a:r>
              <a:rPr lang="ko-KR" altLang="en-US" dirty="0"/>
              <a:t>객체를 만들 수도 있겠죠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&lt;…&gt;</a:t>
            </a:r>
            <a:r>
              <a:rPr lang="ko-KR" altLang="en-US" dirty="0"/>
              <a:t>가 </a:t>
            </a:r>
            <a:r>
              <a:rPr lang="en-US" altLang="ko-KR" dirty="0"/>
              <a:t>Generics</a:t>
            </a:r>
            <a:r>
              <a:rPr lang="ko-KR" altLang="en-US" dirty="0"/>
              <a:t>를 의미해요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여기서는 우리의 객체 </a:t>
            </a:r>
            <a:r>
              <a:rPr lang="en-US" altLang="ko-KR" dirty="0"/>
              <a:t>Point</a:t>
            </a:r>
            <a:r>
              <a:rPr lang="ko-KR" altLang="en-US" dirty="0"/>
              <a:t>가 들어갔네요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그러니 </a:t>
            </a:r>
            <a:r>
              <a:rPr lang="en-US" altLang="ko-KR" dirty="0" err="1"/>
              <a:t>listOfPoints</a:t>
            </a:r>
            <a:r>
              <a:rPr lang="ko-KR" altLang="en-US" dirty="0"/>
              <a:t>가 </a:t>
            </a:r>
            <a:r>
              <a:rPr lang="en-US" altLang="ko-KR" dirty="0"/>
              <a:t>Point</a:t>
            </a:r>
            <a:r>
              <a:rPr lang="ko-KR" altLang="en-US" dirty="0"/>
              <a:t>로 이루어진 </a:t>
            </a:r>
            <a:r>
              <a:rPr lang="en-US" altLang="ko-KR" dirty="0"/>
              <a:t>List </a:t>
            </a:r>
            <a:r>
              <a:rPr lang="ko-KR" altLang="en-US" dirty="0"/>
              <a:t>객체라는 것을 알 수 있답니다</a:t>
            </a:r>
            <a:r>
              <a:rPr lang="en-US" altLang="ko-KR" dirty="0"/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3785" y="5081413"/>
            <a:ext cx="1107996" cy="36933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Generics</a:t>
            </a:r>
            <a:endParaRPr lang="ko-KR" altLang="en-US" dirty="0"/>
          </a:p>
        </p:txBody>
      </p:sp>
      <p:cxnSp>
        <p:nvCxnSpPr>
          <p:cNvPr id="9" name="직선 화살표 연결선 8"/>
          <p:cNvCxnSpPr>
            <a:stCxn id="7" idx="0"/>
          </p:cNvCxnSpPr>
          <p:nvPr/>
        </p:nvCxnSpPr>
        <p:spPr>
          <a:xfrm flipH="1" flipV="1">
            <a:off x="1652195" y="4067190"/>
            <a:ext cx="2255588" cy="1014223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7" idx="0"/>
          </p:cNvCxnSpPr>
          <p:nvPr/>
        </p:nvCxnSpPr>
        <p:spPr>
          <a:xfrm flipV="1">
            <a:off x="3907783" y="4067190"/>
            <a:ext cx="1200676" cy="1014223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6163" y="2631091"/>
            <a:ext cx="1531188" cy="36933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List Interface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970840" y="2631091"/>
            <a:ext cx="2603598" cy="36933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Implemented List Class</a:t>
            </a:r>
            <a:endParaRPr lang="ko-KR" altLang="en-US" dirty="0"/>
          </a:p>
        </p:txBody>
      </p:sp>
      <p:cxnSp>
        <p:nvCxnSpPr>
          <p:cNvPr id="19" name="직선 화살표 연결선 18"/>
          <p:cNvCxnSpPr>
            <a:stCxn id="16" idx="2"/>
          </p:cNvCxnSpPr>
          <p:nvPr/>
        </p:nvCxnSpPr>
        <p:spPr>
          <a:xfrm flipH="1">
            <a:off x="1157244" y="3000423"/>
            <a:ext cx="474513" cy="858512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stCxn id="17" idx="2"/>
          </p:cNvCxnSpPr>
          <p:nvPr/>
        </p:nvCxnSpPr>
        <p:spPr>
          <a:xfrm>
            <a:off x="4272639" y="3000423"/>
            <a:ext cx="209084" cy="858512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0859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이제 넣어 봐야지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42348"/>
          <a:stretch/>
        </p:blipFill>
        <p:spPr>
          <a:xfrm>
            <a:off x="1143000" y="3288485"/>
            <a:ext cx="4172267" cy="1411831"/>
          </a:xfrm>
          <a:prstGeom prst="rect">
            <a:avLst/>
          </a:prstGeom>
        </p:spPr>
      </p:pic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add</a:t>
            </a:r>
            <a:r>
              <a:rPr lang="ko-KR" altLang="en-US" dirty="0"/>
              <a:t>함수가 </a:t>
            </a:r>
            <a:r>
              <a:rPr lang="en-US" altLang="ko-KR" dirty="0"/>
              <a:t>List</a:t>
            </a:r>
            <a:r>
              <a:rPr lang="ko-KR" altLang="en-US" dirty="0"/>
              <a:t>에 객체를 넣을 때 쓰는 함수입니다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List </a:t>
            </a:r>
            <a:r>
              <a:rPr lang="ko-KR" altLang="en-US" dirty="0"/>
              <a:t>인터페이스에 명시가 되어있어요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우리의 예제에서는 </a:t>
            </a:r>
            <a:r>
              <a:rPr lang="en-US" altLang="ko-KR" dirty="0" err="1"/>
              <a:t>ArrayList</a:t>
            </a:r>
            <a:r>
              <a:rPr lang="ko-KR" altLang="en-US" dirty="0"/>
              <a:t>가 구현한 </a:t>
            </a:r>
            <a:r>
              <a:rPr lang="en-US" altLang="ko-KR" dirty="0"/>
              <a:t>add</a:t>
            </a:r>
            <a:r>
              <a:rPr lang="ko-KR" altLang="en-US" dirty="0"/>
              <a:t>를 호출했겠지요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하지만 우리는 </a:t>
            </a:r>
            <a:r>
              <a:rPr lang="en-US" altLang="ko-KR" dirty="0" err="1"/>
              <a:t>ArrayList</a:t>
            </a:r>
            <a:r>
              <a:rPr lang="ko-KR" altLang="en-US" dirty="0"/>
              <a:t>가 어떻게 동작하는 지 알 필요는 없지요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이게 객체지향의 </a:t>
            </a:r>
            <a:r>
              <a:rPr lang="ko-KR" altLang="en-US" dirty="0" err="1"/>
              <a:t>묘미랍니다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032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잘 들어갔나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29293" cy="4023360"/>
          </a:xfrm>
        </p:spPr>
        <p:txBody>
          <a:bodyPr/>
          <a:lstStyle/>
          <a:p>
            <a:r>
              <a:rPr lang="ko-KR" altLang="en-US" dirty="0"/>
              <a:t>잘 들어갔는지 확인하기 위해서</a:t>
            </a:r>
            <a:br>
              <a:rPr lang="en-US" altLang="ko-KR" dirty="0"/>
            </a:br>
            <a:r>
              <a:rPr lang="ko-KR" altLang="en-US" dirty="0"/>
              <a:t>출력을 해봅시다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일단 </a:t>
            </a:r>
            <a:r>
              <a:rPr lang="en-US" altLang="ko-KR" dirty="0"/>
              <a:t>List</a:t>
            </a:r>
            <a:r>
              <a:rPr lang="ko-KR" altLang="en-US" dirty="0"/>
              <a:t>의 정보를 앞에서부터 하나씩 읽어서 이를 출력해야 겠지요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아마 오른쪽과 같은 코드를 생각할 거에요</a:t>
            </a:r>
            <a:r>
              <a:rPr lang="en-US" altLang="ko-KR" dirty="0"/>
              <a:t>.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91970" y="3431097"/>
            <a:ext cx="6066272" cy="75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998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원시인도 아니고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하지만 저런 </a:t>
            </a:r>
            <a:r>
              <a:rPr lang="ko-KR" altLang="en-US" dirty="0" err="1"/>
              <a:t>반복문은</a:t>
            </a:r>
            <a:r>
              <a:rPr lang="ko-KR" altLang="en-US" dirty="0"/>
              <a:t> 너무 원시적</a:t>
            </a:r>
            <a:r>
              <a:rPr lang="en-US" altLang="ko-KR" dirty="0"/>
              <a:t>(?)</a:t>
            </a:r>
            <a:r>
              <a:rPr lang="ko-KR" altLang="en-US" dirty="0"/>
              <a:t>이지 않나요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절대 저 방식이 나쁘다는 것은 아닌데</a:t>
            </a:r>
            <a:br>
              <a:rPr lang="en-US" altLang="ko-KR" dirty="0"/>
            </a:br>
            <a:r>
              <a:rPr lang="ko-KR" altLang="en-US" dirty="0"/>
              <a:t>다른</a:t>
            </a:r>
            <a:r>
              <a:rPr lang="en-US" altLang="ko-KR" dirty="0"/>
              <a:t>, </a:t>
            </a:r>
            <a:r>
              <a:rPr lang="ko-KR" altLang="en-US" dirty="0"/>
              <a:t>조금 더 깔끔한 방식이 있지 않을까요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Java</a:t>
            </a:r>
            <a:r>
              <a:rPr lang="ko-KR" altLang="en-US" dirty="0"/>
              <a:t>에서는 여러가지 </a:t>
            </a:r>
            <a:r>
              <a:rPr lang="ko-KR" altLang="en-US" dirty="0" err="1"/>
              <a:t>반복문</a:t>
            </a:r>
            <a:r>
              <a:rPr lang="ko-KR" altLang="en-US" dirty="0"/>
              <a:t> 방식을 제공해 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속도는 느려질 수도 있지만</a:t>
            </a:r>
            <a:r>
              <a:rPr lang="en-US" altLang="ko-KR" dirty="0"/>
              <a:t>, </a:t>
            </a:r>
            <a:r>
              <a:rPr lang="ko-KR" altLang="en-US" dirty="0"/>
              <a:t>보기에 더 깔끔하고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때에 따라서는 훨씬 직관적으로 이해할 수 있지요</a:t>
            </a:r>
            <a:r>
              <a:rPr lang="en-US" altLang="ko-KR" dirty="0"/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184" y="3667475"/>
            <a:ext cx="3490000" cy="242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579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잠깐 그 전에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List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담긴 내용을 확인하는 새로운 객체를 만들도록 할게요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그저 편의를 위해서라기 보다는</a:t>
            </a:r>
            <a:br>
              <a:rPr lang="en-US" altLang="ko-KR" dirty="0"/>
            </a:br>
            <a:r>
              <a:rPr lang="ko-KR" altLang="en-US" dirty="0" err="1"/>
              <a:t>재사용성을</a:t>
            </a:r>
            <a:r>
              <a:rPr lang="ko-KR" altLang="en-US" dirty="0"/>
              <a:t> 높이는 작업이라고 생각합니다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이름이 반드시 똑같을 필요는 없어요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그저 예시일 뿐이랍니다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63957" y="2893745"/>
            <a:ext cx="4754563" cy="1855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64870" y="609600"/>
            <a:ext cx="3534942" cy="120032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/>
              <a:t>클래스 단위 </a:t>
            </a:r>
            <a:r>
              <a:rPr lang="en-US" altLang="ko-KR" dirty="0"/>
              <a:t>Generics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 클래스 안에서 </a:t>
            </a:r>
            <a:r>
              <a:rPr lang="en-US" altLang="ko-KR" dirty="0"/>
              <a:t>T</a:t>
            </a:r>
            <a:r>
              <a:rPr lang="ko-KR" altLang="en-US" dirty="0"/>
              <a:t>는</a:t>
            </a:r>
            <a:endParaRPr lang="en-US" altLang="ko-KR" dirty="0"/>
          </a:p>
          <a:p>
            <a:r>
              <a:rPr lang="ko-KR" altLang="en-US" dirty="0"/>
              <a:t>이 클래스 생성 시에 정의된 객체를</a:t>
            </a:r>
            <a:endParaRPr lang="en-US" altLang="ko-KR" dirty="0"/>
          </a:p>
          <a:p>
            <a:r>
              <a:rPr lang="ko-KR" altLang="en-US" dirty="0"/>
              <a:t>의미합니다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cxnSp>
        <p:nvCxnSpPr>
          <p:cNvPr id="8" name="직선 화살표 연결선 7"/>
          <p:cNvCxnSpPr>
            <a:stCxn id="6" idx="2"/>
          </p:cNvCxnSpPr>
          <p:nvPr/>
        </p:nvCxnSpPr>
        <p:spPr>
          <a:xfrm flipH="1">
            <a:off x="8301608" y="1809929"/>
            <a:ext cx="1130733" cy="1083816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957" y="5400646"/>
            <a:ext cx="4678103" cy="422137"/>
          </a:xfrm>
          <a:prstGeom prst="rect">
            <a:avLst/>
          </a:prstGeom>
        </p:spPr>
      </p:pic>
      <p:cxnSp>
        <p:nvCxnSpPr>
          <p:cNvPr id="11" name="직선 화살표 연결선 10"/>
          <p:cNvCxnSpPr>
            <a:stCxn id="6" idx="2"/>
          </p:cNvCxnSpPr>
          <p:nvPr/>
        </p:nvCxnSpPr>
        <p:spPr>
          <a:xfrm flipH="1">
            <a:off x="7432646" y="1809929"/>
            <a:ext cx="1999695" cy="3590717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931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Iterator? </a:t>
            </a:r>
            <a:r>
              <a:rPr lang="ko-KR" altLang="en-US" dirty="0"/>
              <a:t>그게 뭐야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43000" y="3238151"/>
            <a:ext cx="5507517" cy="1653307"/>
          </a:xfrm>
          <a:prstGeom prst="rect">
            <a:avLst/>
          </a:prstGeom>
        </p:spPr>
      </p:pic>
      <p:sp>
        <p:nvSpPr>
          <p:cNvPr id="5" name="내용 개체 틀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첫 번째 방식은 </a:t>
            </a:r>
            <a:r>
              <a:rPr lang="en-US" altLang="ko-KR" dirty="0"/>
              <a:t>Iterator</a:t>
            </a:r>
            <a:r>
              <a:rPr lang="ko-KR" altLang="en-US" dirty="0"/>
              <a:t>를 활용하는 방법입니다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Iterator</a:t>
            </a:r>
            <a:r>
              <a:rPr lang="ko-KR" altLang="en-US" dirty="0"/>
              <a:t>는 </a:t>
            </a:r>
            <a:r>
              <a:rPr lang="en-US" altLang="ko-KR" dirty="0"/>
              <a:t>List </a:t>
            </a:r>
            <a:r>
              <a:rPr lang="ko-KR" altLang="en-US" dirty="0"/>
              <a:t>객체를 반복시켜주는 객체로</a:t>
            </a:r>
            <a:r>
              <a:rPr lang="en-US" altLang="ko-KR" dirty="0"/>
              <a:t>, List</a:t>
            </a:r>
            <a:r>
              <a:rPr lang="ko-KR" altLang="en-US" dirty="0"/>
              <a:t>의 객체를 처음부터 하나 씩 받아서 차례로 참조합니다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hasNext</a:t>
            </a:r>
            <a:r>
              <a:rPr lang="en-US" altLang="ko-KR" dirty="0"/>
              <a:t> </a:t>
            </a:r>
            <a:r>
              <a:rPr lang="ko-KR" altLang="en-US" dirty="0"/>
              <a:t>함수를 통해서 아직 남아 있는지를 파악하고</a:t>
            </a:r>
            <a:br>
              <a:rPr lang="en-US" altLang="ko-KR" dirty="0"/>
            </a:br>
            <a:r>
              <a:rPr lang="en-US" altLang="ko-KR" dirty="0"/>
              <a:t>next </a:t>
            </a:r>
            <a:r>
              <a:rPr lang="ko-KR" altLang="en-US" dirty="0"/>
              <a:t>함수를 통해서 다음 객체를 참조합니다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223083" y="2191279"/>
            <a:ext cx="3797835" cy="3693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/>
              <a:t>해당 </a:t>
            </a:r>
            <a:r>
              <a:rPr lang="en-US" altLang="ko-KR" dirty="0"/>
              <a:t>List</a:t>
            </a:r>
            <a:r>
              <a:rPr lang="ko-KR" altLang="en-US" dirty="0"/>
              <a:t>의 정보를 담는 </a:t>
            </a:r>
            <a:r>
              <a:rPr lang="en-US" altLang="ko-KR" dirty="0"/>
              <a:t>Iterator </a:t>
            </a:r>
            <a:r>
              <a:rPr lang="ko-KR" altLang="en-US" dirty="0"/>
              <a:t>반환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1688" y="4932111"/>
            <a:ext cx="1672253" cy="3693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/>
              <a:t>다음에 있나요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896758" y="5301443"/>
            <a:ext cx="1709122" cy="3693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/>
              <a:t>다음 것 주세요</a:t>
            </a:r>
            <a:r>
              <a:rPr lang="en-US" altLang="ko-KR" dirty="0"/>
              <a:t>!</a:t>
            </a:r>
            <a:endParaRPr lang="ko-KR" altLang="en-US" dirty="0"/>
          </a:p>
        </p:txBody>
      </p:sp>
      <p:cxnSp>
        <p:nvCxnSpPr>
          <p:cNvPr id="11" name="직선 화살표 연결선 10"/>
          <p:cNvCxnSpPr>
            <a:stCxn id="8" idx="0"/>
          </p:cNvCxnSpPr>
          <p:nvPr/>
        </p:nvCxnSpPr>
        <p:spPr>
          <a:xfrm flipV="1">
            <a:off x="2597815" y="4001549"/>
            <a:ext cx="836126" cy="930562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9" idx="0"/>
          </p:cNvCxnSpPr>
          <p:nvPr/>
        </p:nvCxnSpPr>
        <p:spPr>
          <a:xfrm flipV="1">
            <a:off x="4751319" y="4194495"/>
            <a:ext cx="0" cy="1106948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7" idx="2"/>
          </p:cNvCxnSpPr>
          <p:nvPr/>
        </p:nvCxnSpPr>
        <p:spPr>
          <a:xfrm>
            <a:off x="4122001" y="2560611"/>
            <a:ext cx="340942" cy="1096989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5051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이런 </a:t>
            </a:r>
            <a:r>
              <a:rPr lang="en-US" altLang="ko-KR" dirty="0"/>
              <a:t>for</a:t>
            </a:r>
            <a:r>
              <a:rPr lang="ko-KR" altLang="en-US" dirty="0"/>
              <a:t>는 처음이야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두 번째 방식은 </a:t>
            </a:r>
            <a:r>
              <a:rPr lang="en-US" altLang="ko-KR" dirty="0"/>
              <a:t>enhanced for</a:t>
            </a:r>
            <a:r>
              <a:rPr lang="ko-KR" altLang="en-US" dirty="0"/>
              <a:t>라고 불리는 방식입니다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말 그대로 콜론</a:t>
            </a:r>
            <a:r>
              <a:rPr lang="en-US" altLang="ko-KR" dirty="0"/>
              <a:t> </a:t>
            </a:r>
            <a:r>
              <a:rPr lang="ko-KR" altLang="en-US" dirty="0"/>
              <a:t>뒤의 </a:t>
            </a:r>
            <a:r>
              <a:rPr lang="en-US" altLang="ko-KR" dirty="0"/>
              <a:t>List </a:t>
            </a:r>
            <a:r>
              <a:rPr lang="ko-KR" altLang="en-US" dirty="0"/>
              <a:t>객체에서</a:t>
            </a:r>
            <a:br>
              <a:rPr lang="en-US" altLang="ko-KR" dirty="0"/>
            </a:br>
            <a:r>
              <a:rPr lang="ko-KR" altLang="en-US" dirty="0"/>
              <a:t>앞의 변수에 하나씩 뽑아 주는 것이랍니다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방식은 꼭 </a:t>
            </a:r>
            <a:r>
              <a:rPr lang="en-US" altLang="ko-KR" dirty="0"/>
              <a:t>List </a:t>
            </a:r>
            <a:r>
              <a:rPr lang="ko-KR" altLang="en-US" dirty="0"/>
              <a:t>뿐만 아니라</a:t>
            </a:r>
            <a:r>
              <a:rPr lang="en-US" altLang="ko-KR" dirty="0"/>
              <a:t>, </a:t>
            </a:r>
            <a:r>
              <a:rPr lang="ko-KR" altLang="en-US" dirty="0"/>
              <a:t>기본 타입 배열 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[], double[]) </a:t>
            </a:r>
            <a:r>
              <a:rPr lang="ko-KR" altLang="en-US" dirty="0"/>
              <a:t>등에서도 쓸 수 있어요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97880" y="3287870"/>
            <a:ext cx="5888652" cy="1562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879" y="1434517"/>
            <a:ext cx="2324675" cy="3693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/>
              <a:t>여기서 하나씩 뽑아서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8305" y="2323750"/>
            <a:ext cx="1834156" cy="3693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/>
              <a:t>여기에 넣습니다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9" name="직선 화살표 연결선 8"/>
          <p:cNvCxnSpPr>
            <a:stCxn id="6" idx="2"/>
          </p:cNvCxnSpPr>
          <p:nvPr/>
        </p:nvCxnSpPr>
        <p:spPr>
          <a:xfrm flipH="1">
            <a:off x="8237989" y="1803849"/>
            <a:ext cx="1246228" cy="1887307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stCxn id="7" idx="2"/>
          </p:cNvCxnSpPr>
          <p:nvPr/>
        </p:nvCxnSpPr>
        <p:spPr>
          <a:xfrm flipH="1">
            <a:off x="7583648" y="2693082"/>
            <a:ext cx="111735" cy="998074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0875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실행을</a:t>
            </a:r>
            <a:r>
              <a:rPr lang="en-US" altLang="ko-KR" dirty="0"/>
              <a:t> </a:t>
            </a:r>
            <a:r>
              <a:rPr lang="ko-KR" altLang="en-US" dirty="0"/>
              <a:t>했는데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자 이제 잘 돌아갔는지 실행해 볼까요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앞에서 구현한 모든 </a:t>
            </a:r>
            <a:r>
              <a:rPr lang="ko-KR" altLang="en-US" dirty="0" err="1"/>
              <a:t>메소드를</a:t>
            </a:r>
            <a:r>
              <a:rPr lang="ko-KR" altLang="en-US" dirty="0"/>
              <a:t> </a:t>
            </a:r>
            <a:r>
              <a:rPr lang="en-US" altLang="ko-KR" dirty="0"/>
              <a:t>main</a:t>
            </a:r>
            <a:r>
              <a:rPr lang="ko-KR" altLang="en-US" dirty="0"/>
              <a:t>함수에 넣고 한번 돌려보세요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무엇인가 이상한 것이 나오네요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다들 </a:t>
            </a:r>
            <a:r>
              <a:rPr lang="en-US" altLang="ko-KR" dirty="0"/>
              <a:t>(x, y)</a:t>
            </a:r>
            <a:r>
              <a:rPr lang="ko-KR" altLang="en-US" dirty="0"/>
              <a:t>같이 깔끔한 형식을 기대하지 않았나요</a:t>
            </a:r>
            <a:r>
              <a:rPr lang="en-US" altLang="ko-KR" dirty="0"/>
              <a:t>?</a:t>
            </a:r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97880" y="2715790"/>
            <a:ext cx="5695703" cy="105128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332" y="4085439"/>
            <a:ext cx="2165517" cy="222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073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여기서 질문</a:t>
            </a:r>
            <a:r>
              <a:rPr lang="en-US" altLang="ko-KR" dirty="0"/>
              <a:t>!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664962" y="4342701"/>
            <a:ext cx="2143125" cy="2143125"/>
          </a:xfrm>
          <a:prstGeom prst="rect">
            <a:avLst/>
          </a:prstGeom>
        </p:spPr>
      </p:pic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143000" y="2057400"/>
            <a:ext cx="9879492" cy="4023360"/>
          </a:xfrm>
        </p:spPr>
        <p:txBody>
          <a:bodyPr/>
          <a:lstStyle/>
          <a:p>
            <a:r>
              <a:rPr lang="ko-KR" altLang="en-US" dirty="0"/>
              <a:t>분명 </a:t>
            </a:r>
            <a:r>
              <a:rPr lang="en-US" altLang="ko-KR" dirty="0" err="1"/>
              <a:t>System.out.print</a:t>
            </a:r>
            <a:r>
              <a:rPr lang="ko-KR" altLang="en-US" dirty="0"/>
              <a:t> 함수를 통해서 우리의 객체를 출력하였습니다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근데 이 함수는 콘솔 창에 문자열로 보여주는 일을 하지요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우리는 그 어디에도 해당 객체가 문자열로 바뀌게 하는 코드를 구현하지 않았죠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과연 우리의 객체는 어디서 </a:t>
            </a:r>
            <a:r>
              <a:rPr lang="en-US" altLang="ko-KR" dirty="0"/>
              <a:t>String</a:t>
            </a:r>
            <a:r>
              <a:rPr lang="ko-KR" altLang="en-US" dirty="0"/>
              <a:t>으로 변환 되었을까요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5370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에는 신이 계십니다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25364" r="23292"/>
          <a:stretch/>
        </p:blipFill>
        <p:spPr>
          <a:xfrm>
            <a:off x="1143000" y="2034756"/>
            <a:ext cx="3665989" cy="4046004"/>
          </a:xfrm>
          <a:prstGeom prst="rect">
            <a:avLst/>
          </a:prstGeom>
        </p:spPr>
      </p:pic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217952" y="2057400"/>
            <a:ext cx="5804540" cy="4023360"/>
          </a:xfrm>
        </p:spPr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의 모든 객체는 </a:t>
            </a:r>
            <a:r>
              <a:rPr lang="en-US" altLang="ko-KR" dirty="0"/>
              <a:t>Object</a:t>
            </a:r>
            <a:r>
              <a:rPr lang="ko-KR" altLang="en-US" dirty="0"/>
              <a:t>를 상속합니다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따라서 모든 객체를 </a:t>
            </a:r>
            <a:r>
              <a:rPr lang="en-US" altLang="ko-KR" dirty="0"/>
              <a:t>Object</a:t>
            </a:r>
            <a:r>
              <a:rPr lang="ko-KR" altLang="en-US" dirty="0"/>
              <a:t>로 받을 수 있으며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Object</a:t>
            </a:r>
            <a:r>
              <a:rPr lang="ko-KR" altLang="en-US" dirty="0"/>
              <a:t>에 구현된 모든 함수를 사용합니다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Object</a:t>
            </a:r>
            <a:r>
              <a:rPr lang="ko-KR" altLang="en-US" dirty="0"/>
              <a:t> 객체에는 </a:t>
            </a:r>
            <a:r>
              <a:rPr lang="en-US" altLang="ko-KR" dirty="0" err="1"/>
              <a:t>toString</a:t>
            </a:r>
            <a:r>
              <a:rPr lang="ko-KR" altLang="en-US" dirty="0"/>
              <a:t>이라는 함수가 있습니다</a:t>
            </a:r>
            <a:r>
              <a:rPr lang="en-US" altLang="ko-KR" dirty="0"/>
              <a:t>. </a:t>
            </a:r>
            <a:r>
              <a:rPr lang="ko-KR" altLang="en-US" dirty="0"/>
              <a:t>이는 객체를 문자열로 바꿔주는 함수입니다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즉 </a:t>
            </a:r>
            <a:r>
              <a:rPr lang="en-US" altLang="ko-KR" dirty="0"/>
              <a:t>Point</a:t>
            </a:r>
            <a:r>
              <a:rPr lang="ko-KR" altLang="en-US" dirty="0"/>
              <a:t>는 좋든 싫든 </a:t>
            </a:r>
            <a:r>
              <a:rPr lang="en-US" altLang="ko-KR" dirty="0"/>
              <a:t>Object</a:t>
            </a:r>
            <a:r>
              <a:rPr lang="ko-KR" altLang="en-US" dirty="0"/>
              <a:t>를 상속받고 있으며</a:t>
            </a:r>
            <a:r>
              <a:rPr lang="en-US" altLang="ko-KR" dirty="0"/>
              <a:t>, </a:t>
            </a:r>
            <a:r>
              <a:rPr lang="ko-KR" altLang="en-US" dirty="0"/>
              <a:t>따라서 </a:t>
            </a:r>
            <a:r>
              <a:rPr lang="en-US" altLang="ko-KR" dirty="0"/>
              <a:t>print</a:t>
            </a:r>
            <a:r>
              <a:rPr lang="ko-KR" altLang="en-US" dirty="0"/>
              <a:t> 함수 안에서 </a:t>
            </a:r>
            <a:r>
              <a:rPr lang="en-US" altLang="ko-KR" dirty="0"/>
              <a:t>Point</a:t>
            </a:r>
            <a:r>
              <a:rPr lang="ko-KR" altLang="en-US" dirty="0"/>
              <a:t>는 </a:t>
            </a:r>
            <a:r>
              <a:rPr lang="en-US" altLang="ko-KR" dirty="0"/>
              <a:t>Object</a:t>
            </a:r>
            <a:r>
              <a:rPr lang="ko-KR" altLang="en-US" dirty="0"/>
              <a:t>의 </a:t>
            </a:r>
            <a:r>
              <a:rPr lang="en-US" altLang="ko-KR" dirty="0" err="1"/>
              <a:t>toString</a:t>
            </a:r>
            <a:r>
              <a:rPr lang="ko-KR" altLang="en-US" dirty="0"/>
              <a:t>을 호출한 것이죠</a:t>
            </a:r>
            <a:r>
              <a:rPr lang="en-US" altLang="ko-KR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7911" y="2788081"/>
            <a:ext cx="888385" cy="369332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Object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6873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그렇다면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9875520" cy="4023360"/>
          </a:xfrm>
        </p:spPr>
        <p:txBody>
          <a:bodyPr/>
          <a:lstStyle/>
          <a:p>
            <a:r>
              <a:rPr lang="en-US" altLang="ko-KR" dirty="0" err="1"/>
              <a:t>toString</a:t>
            </a:r>
            <a:r>
              <a:rPr lang="ko-KR" altLang="en-US" dirty="0"/>
              <a:t>의 기본 형식은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클래스 이름</a:t>
            </a:r>
            <a:r>
              <a:rPr lang="en-US" altLang="ko-KR" dirty="0"/>
              <a:t>) @ (</a:t>
            </a:r>
            <a:r>
              <a:rPr lang="ko-KR" altLang="en-US" dirty="0"/>
              <a:t>해시 코드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그렇게 의미 있는 정보는 아니죠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어떻게 하면 일관성을 해치지 않고</a:t>
            </a:r>
            <a:br>
              <a:rPr lang="en-US" altLang="ko-KR" dirty="0"/>
            </a:br>
            <a:r>
              <a:rPr lang="en-US" altLang="ko-KR" dirty="0"/>
              <a:t>Point</a:t>
            </a:r>
            <a:r>
              <a:rPr lang="ko-KR" altLang="en-US" dirty="0"/>
              <a:t>를 우리가 원하는 형식으로 출력할 수 있을까요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앞 시간에 우리는 배웠습니다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바로 </a:t>
            </a:r>
            <a:r>
              <a:rPr lang="ko-KR" altLang="en-US" sz="1400" dirty="0"/>
              <a:t>오버로딩이 아니라 </a:t>
            </a:r>
            <a:r>
              <a:rPr lang="ko-KR" altLang="en-US" dirty="0" err="1"/>
              <a:t>오버라이드</a:t>
            </a:r>
            <a:r>
              <a:rPr lang="en-US" altLang="ko-KR" dirty="0"/>
              <a:t>(Override)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</p:txBody>
      </p:sp>
      <p:pic>
        <p:nvPicPr>
          <p:cNvPr id="6146" name="Picture 2" descr="http://previews.123rf.com/images/pixelsaway/pixelsaway1101/pixelsaway110100115/8659954-WLOG-without-loss-of-generality-acroym-and-phrase-used-in-mathematics-and-science-applicable-more-ge-Stock-Phot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925430"/>
            <a:ext cx="3398520" cy="226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36613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이걸 또 </a:t>
            </a:r>
            <a:r>
              <a:rPr lang="en-US" altLang="ko-KR" dirty="0"/>
              <a:t>Eclipse</a:t>
            </a:r>
            <a:r>
              <a:rPr lang="ko-KR" altLang="en-US" dirty="0"/>
              <a:t>가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Point</a:t>
            </a:r>
            <a:r>
              <a:rPr lang="ko-KR" altLang="en-US" dirty="0"/>
              <a:t>에 </a:t>
            </a:r>
            <a:r>
              <a:rPr lang="en-US" altLang="ko-KR" dirty="0" err="1"/>
              <a:t>toString</a:t>
            </a:r>
            <a:r>
              <a:rPr lang="en-US" altLang="ko-KR" dirty="0"/>
              <a:t> </a:t>
            </a:r>
            <a:r>
              <a:rPr lang="ko-KR" altLang="en-US" dirty="0"/>
              <a:t>함수를 직접 구현해도 되겠지만</a:t>
            </a:r>
            <a:br>
              <a:rPr lang="en-US" altLang="ko-KR" dirty="0"/>
            </a:br>
            <a:r>
              <a:rPr lang="ko-KR" altLang="en-US" dirty="0"/>
              <a:t>우리의 </a:t>
            </a:r>
            <a:r>
              <a:rPr lang="en-US" altLang="ko-KR" dirty="0"/>
              <a:t>Eclipse</a:t>
            </a:r>
            <a:r>
              <a:rPr lang="ko-KR" altLang="en-US" dirty="0"/>
              <a:t>는 귀찮은 것은 자기에게 맡기라고 하네요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Getter, Setter </a:t>
            </a:r>
            <a:r>
              <a:rPr lang="ko-KR" altLang="en-US" dirty="0"/>
              <a:t>처럼 </a:t>
            </a:r>
            <a:r>
              <a:rPr lang="en-US" altLang="ko-KR" dirty="0" err="1"/>
              <a:t>toString</a:t>
            </a:r>
            <a:r>
              <a:rPr lang="ko-KR" altLang="en-US" dirty="0"/>
              <a:t> 함수도 자동 완성 기능을 제공해 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 클릭 </a:t>
            </a:r>
            <a:r>
              <a:rPr lang="en-US" altLang="ko-KR" dirty="0"/>
              <a:t>&gt; Source &gt;</a:t>
            </a:r>
            <a:br>
              <a:rPr lang="en-US" altLang="ko-KR" dirty="0"/>
            </a:br>
            <a:r>
              <a:rPr lang="en-US" altLang="ko-KR" dirty="0"/>
              <a:t>Generate </a:t>
            </a:r>
            <a:r>
              <a:rPr lang="en-US" altLang="ko-KR" dirty="0" err="1"/>
              <a:t>toString</a:t>
            </a:r>
            <a:r>
              <a:rPr lang="en-US" altLang="ko-KR" dirty="0"/>
              <a:t>() </a:t>
            </a:r>
            <a:r>
              <a:rPr lang="ko-KR" altLang="en-US" dirty="0"/>
              <a:t>클릭</a:t>
            </a:r>
            <a:r>
              <a:rPr lang="en-US" altLang="ko-KR" dirty="0"/>
              <a:t>!</a:t>
            </a:r>
          </a:p>
          <a:p>
            <a:endParaRPr lang="en-US" altLang="ko-KR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63957" y="2890917"/>
            <a:ext cx="4754563" cy="7617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99709" y="3931326"/>
            <a:ext cx="4318811" cy="6463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/>
              <a:t>아마 이 형식이 아니라 다른 형식일 거예요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이건 조금 수정한 거랍니다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5205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아</a:t>
            </a:r>
            <a:r>
              <a:rPr lang="en-US" altLang="ko-KR" dirty="0"/>
              <a:t>…</a:t>
            </a:r>
            <a:r>
              <a:rPr lang="ko-KR" altLang="en-US" dirty="0"/>
              <a:t>아름다워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pic>
        <p:nvPicPr>
          <p:cNvPr id="9" name="내용 개체 틀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6573" y="2598394"/>
            <a:ext cx="5944681" cy="1097241"/>
          </a:xfrm>
          <a:prstGeom prst="rect">
            <a:avLst/>
          </a:prstGeom>
        </p:spPr>
      </p:pic>
      <p:pic>
        <p:nvPicPr>
          <p:cNvPr id="5122" name="Picture 2" descr="http://i.ytimg.com/vi/6_VXZz5ewcY/maxresdefaul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804" y="4108258"/>
            <a:ext cx="3883716" cy="2184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35278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Set&lt;T&gt;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번째 자료구조</a:t>
            </a:r>
            <a:endParaRPr lang="en-US" altLang="ko-KR" dirty="0"/>
          </a:p>
          <a:p>
            <a:r>
              <a:rPr lang="en-US" altLang="ko-KR" dirty="0"/>
              <a:t> equals</a:t>
            </a:r>
            <a:r>
              <a:rPr lang="ko-KR" altLang="en-US" dirty="0"/>
              <a:t>와 </a:t>
            </a:r>
            <a:r>
              <a:rPr lang="en-US" altLang="ko-KR" dirty="0" err="1"/>
              <a:t>hashCode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8431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집합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이번에는 집합 자료구조를</a:t>
            </a:r>
            <a:r>
              <a:rPr lang="en-US" altLang="ko-KR" dirty="0"/>
              <a:t> </a:t>
            </a:r>
            <a:r>
              <a:rPr lang="ko-KR" altLang="en-US" dirty="0"/>
              <a:t>만들어 보겠습니다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먼저 집합이 뭔가요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모르면 고</a:t>
            </a:r>
            <a:r>
              <a:rPr lang="en-US" altLang="ko-KR" dirty="0"/>
              <a:t>1</a:t>
            </a:r>
            <a:r>
              <a:rPr lang="ko-KR" altLang="en-US" dirty="0"/>
              <a:t>부터</a:t>
            </a:r>
            <a:r>
              <a:rPr lang="en-US" altLang="ko-KR" dirty="0"/>
              <a:t>…</a:t>
            </a:r>
          </a:p>
          <a:p>
            <a:endParaRPr lang="en-US" altLang="ko-KR" dirty="0"/>
          </a:p>
          <a:p>
            <a:r>
              <a:rPr lang="ko-KR" altLang="en-US" dirty="0"/>
              <a:t>네</a:t>
            </a:r>
            <a:r>
              <a:rPr lang="en-US" altLang="ko-KR" dirty="0"/>
              <a:t>. </a:t>
            </a:r>
            <a:r>
              <a:rPr lang="ko-KR" altLang="en-US" dirty="0"/>
              <a:t>저도 정확한 정의는 잘 기억이 나지 않지만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확실한 것은</a:t>
            </a:r>
            <a:r>
              <a:rPr lang="en-US" altLang="ko-KR" dirty="0"/>
              <a:t> </a:t>
            </a:r>
            <a:r>
              <a:rPr lang="ko-KR" altLang="en-US" dirty="0"/>
              <a:t>똑같은 것이 </a:t>
            </a:r>
            <a:r>
              <a:rPr lang="en-US" altLang="ko-KR" dirty="0"/>
              <a:t>2</a:t>
            </a:r>
            <a:r>
              <a:rPr lang="ko-KR" altLang="en-US" dirty="0"/>
              <a:t>개 이상 들어가지 못하는 것이죠</a:t>
            </a:r>
            <a:r>
              <a:rPr lang="en-US" altLang="ko-KR" dirty="0"/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451" y="723900"/>
            <a:ext cx="3446872" cy="360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1193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Set&lt;T&gt;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List</a:t>
            </a:r>
            <a:r>
              <a:rPr lang="ko-KR" altLang="en-US" dirty="0"/>
              <a:t>와 비슷합니다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Set&lt;T&gt;</a:t>
            </a:r>
            <a:r>
              <a:rPr lang="ko-KR" altLang="en-US" dirty="0"/>
              <a:t>는 인터페이스이고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 err="1"/>
              <a:t>HashSet</a:t>
            </a:r>
            <a:r>
              <a:rPr lang="en-US" altLang="ko-KR" dirty="0"/>
              <a:t>&lt;T&gt;</a:t>
            </a:r>
            <a:r>
              <a:rPr lang="ko-KR" altLang="en-US" dirty="0"/>
              <a:t>는 이를 구현한 </a:t>
            </a:r>
            <a:r>
              <a:rPr lang="ko-KR" altLang="en-US" dirty="0" err="1"/>
              <a:t>클래스랍니다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HashSet</a:t>
            </a:r>
            <a:r>
              <a:rPr lang="en-US" altLang="ko-KR" dirty="0"/>
              <a:t>&lt;T&gt;</a:t>
            </a:r>
            <a:r>
              <a:rPr lang="ko-KR" altLang="en-US" dirty="0"/>
              <a:t>말고도 여러가지 </a:t>
            </a:r>
            <a:r>
              <a:rPr lang="en-US" altLang="ko-KR" dirty="0"/>
              <a:t>Set </a:t>
            </a:r>
            <a:r>
              <a:rPr lang="ko-KR" altLang="en-US" dirty="0"/>
              <a:t>클래스가 많이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오른쪽과 같이 구현해 주세요</a:t>
            </a:r>
            <a:r>
              <a:rPr lang="en-US" altLang="ko-KR" dirty="0"/>
              <a:t>.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97880" y="3400426"/>
            <a:ext cx="6208058" cy="3421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20150" y="4514850"/>
            <a:ext cx="1239442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/>
              <a:t>이건 뭐람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cxnSp>
        <p:nvCxnSpPr>
          <p:cNvPr id="9" name="직선 화살표 연결선 8"/>
          <p:cNvCxnSpPr>
            <a:stCxn id="7" idx="0"/>
          </p:cNvCxnSpPr>
          <p:nvPr/>
        </p:nvCxnSpPr>
        <p:spPr>
          <a:xfrm flipV="1">
            <a:off x="9439871" y="3638550"/>
            <a:ext cx="1342429" cy="876300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7742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생성자가 이상해요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47492" y="2743200"/>
            <a:ext cx="5520120" cy="1592121"/>
          </a:xfrm>
          <a:prstGeom prst="rect">
            <a:avLst/>
          </a:prstGeom>
        </p:spPr>
      </p:pic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267611" y="2057400"/>
            <a:ext cx="4962363" cy="4023360"/>
          </a:xfrm>
        </p:spPr>
        <p:txBody>
          <a:bodyPr/>
          <a:lstStyle/>
          <a:p>
            <a:r>
              <a:rPr lang="ko-KR" altLang="en-US" dirty="0" err="1"/>
              <a:t>생성자도</a:t>
            </a:r>
            <a:r>
              <a:rPr lang="ko-KR" altLang="en-US" dirty="0"/>
              <a:t> 오버로딩을 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Set&lt;T&gt;</a:t>
            </a:r>
            <a:r>
              <a:rPr lang="ko-KR" altLang="en-US" dirty="0"/>
              <a:t>는 </a:t>
            </a:r>
            <a:r>
              <a:rPr lang="en-US" altLang="ko-KR" dirty="0"/>
              <a:t>List&lt;T&gt;</a:t>
            </a:r>
            <a:r>
              <a:rPr lang="ko-KR" altLang="en-US" dirty="0"/>
              <a:t>를 받아서 곧바로 </a:t>
            </a:r>
            <a:r>
              <a:rPr lang="en-US" altLang="ko-KR" dirty="0"/>
              <a:t>Set</a:t>
            </a:r>
            <a:r>
              <a:rPr lang="ko-KR" altLang="en-US" dirty="0"/>
              <a:t>을 만들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 외에도 여러가지 생성자가 있으니 필요하면 직접 검색해서 활용해 보세요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15252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출력을 해볼까요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은 </a:t>
            </a:r>
            <a:r>
              <a:rPr lang="en-US" altLang="ko-KR" dirty="0"/>
              <a:t>indexed for</a:t>
            </a:r>
            <a:r>
              <a:rPr lang="ko-KR" altLang="en-US" dirty="0"/>
              <a:t>로는 참조할 수 없습니다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순서대로 정리되어 있지 않다는 이유겠지요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대신 </a:t>
            </a:r>
            <a:r>
              <a:rPr lang="en-US" altLang="ko-KR" dirty="0"/>
              <a:t>Iterator</a:t>
            </a:r>
            <a:r>
              <a:rPr lang="ko-KR" altLang="en-US" dirty="0"/>
              <a:t>와 </a:t>
            </a:r>
            <a:r>
              <a:rPr lang="en-US" altLang="ko-KR" dirty="0"/>
              <a:t>enhanced for</a:t>
            </a:r>
            <a:r>
              <a:rPr lang="ko-KR" altLang="en-US" dirty="0"/>
              <a:t>를 통해서 반복시킬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List</a:t>
            </a:r>
            <a:r>
              <a:rPr lang="ko-KR" altLang="en-US" dirty="0"/>
              <a:t>와 비슷하게 출력하는 함수를 구현해 보세요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99198" y="2905125"/>
            <a:ext cx="5632366" cy="191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8830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이건 집합이 아니잖아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0368" y="2362200"/>
            <a:ext cx="7965584" cy="1033258"/>
          </a:xfrm>
          <a:prstGeom prst="rect">
            <a:avLst/>
          </a:prstGeom>
        </p:spPr>
      </p:pic>
      <p:sp>
        <p:nvSpPr>
          <p:cNvPr id="7" name="타원 6"/>
          <p:cNvSpPr/>
          <p:nvPr/>
        </p:nvSpPr>
        <p:spPr>
          <a:xfrm>
            <a:off x="2114550" y="2238375"/>
            <a:ext cx="3276600" cy="1304925"/>
          </a:xfrm>
          <a:prstGeom prst="ellipse">
            <a:avLst/>
          </a:prstGeom>
          <a:noFill/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1211" y1="40658" x2="41211" y2="40658"/>
                        <a14:foregroundMark x1="40527" y1="33745" x2="40527" y2="33745"/>
                        <a14:foregroundMark x1="57324" y1="31029" x2="57324" y2="31029"/>
                        <a14:foregroundMark x1="56348" y1="36543" x2="56348" y2="36543"/>
                        <a14:foregroundMark x1="49707" y1="31276" x2="49707" y2="31276"/>
                        <a14:foregroundMark x1="24805" y1="31276" x2="24805" y2="31276"/>
                        <a14:foregroundMark x1="18555" y1="21564" x2="18555" y2="21564"/>
                        <a14:foregroundMark x1="20801" y1="22963" x2="20801" y2="22963"/>
                        <a14:foregroundMark x1="22461" y1="18272" x2="22461" y2="18272"/>
                        <a14:foregroundMark x1="16602" y1="20165" x2="16602" y2="20165"/>
                        <a14:foregroundMark x1="13574" y1="17119" x2="13574" y2="17119"/>
                        <a14:foregroundMark x1="67871" y1="22140" x2="67871" y2="22140"/>
                        <a14:foregroundMark x1="72461" y1="22387" x2="72461" y2="22387"/>
                        <a14:foregroundMark x1="77344" y1="21564" x2="77344" y2="21564"/>
                        <a14:foregroundMark x1="77734" y1="24609" x2="77734" y2="24609"/>
                        <a14:foregroundMark x1="76074" y1="25761" x2="76074" y2="25761"/>
                        <a14:foregroundMark x1="74707" y1="26584" x2="74707" y2="26584"/>
                        <a14:foregroundMark x1="70801" y1="27407" x2="70801" y2="27407"/>
                        <a14:foregroundMark x1="66211" y1="23210" x2="66211" y2="23210"/>
                        <a14:foregroundMark x1="64551" y1="21893" x2="64551" y2="21893"/>
                        <a14:backgroundMark x1="33008" y1="16049" x2="33008" y2="16049"/>
                        <a14:backgroundMark x1="40234" y1="58683" x2="40234" y2="586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833504">
            <a:off x="5311088" y="2850951"/>
            <a:ext cx="3368097" cy="399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076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무엇이 너희를 다르게 하였나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왜 그럴까요</a:t>
            </a:r>
            <a:r>
              <a:rPr lang="en-US" altLang="ko-KR" dirty="0"/>
              <a:t>? </a:t>
            </a:r>
            <a:r>
              <a:rPr lang="ko-KR" altLang="en-US" dirty="0"/>
              <a:t>사실 이 질문은 조금 어렵습니다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x</a:t>
            </a:r>
            <a:r>
              <a:rPr lang="ko-KR" altLang="en-US" dirty="0"/>
              <a:t>와 </a:t>
            </a:r>
            <a:r>
              <a:rPr lang="en-US" altLang="ko-KR" dirty="0"/>
              <a:t>y</a:t>
            </a:r>
            <a:r>
              <a:rPr lang="ko-KR" altLang="en-US" dirty="0"/>
              <a:t>가 동일하면 당연히 똑같다고 생각할 수 있기 때문입니다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이는 엄연히 </a:t>
            </a:r>
            <a:r>
              <a:rPr lang="en-US" altLang="ko-KR" dirty="0"/>
              <a:t>‘</a:t>
            </a:r>
            <a:r>
              <a:rPr lang="ko-KR" altLang="en-US" dirty="0"/>
              <a:t>인간</a:t>
            </a:r>
            <a:r>
              <a:rPr lang="en-US" altLang="ko-KR" dirty="0"/>
              <a:t>’</a:t>
            </a:r>
            <a:r>
              <a:rPr lang="ko-KR" altLang="en-US" dirty="0"/>
              <a:t>의 생각입니다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사람은 쉽게 논리적으로 그렇게 생각할 수 있지만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멍청한 컴퓨터는 그것을 간파하지 못합니다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컴퓨터의 입장에서는 메모리 상에 서로 다른 위치에 있는 다른 객체로 파악합니다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우연히 두 객체의 필드가 모두 동일한 것이죠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예를 들면 아무리 모습이 비슷한 쌍둥이라도 둘은 엄연히 다른 것과 마찬가지죠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sz="1600" i="1" strike="sngStrike" dirty="0"/>
              <a:t>(</a:t>
            </a:r>
            <a:r>
              <a:rPr lang="ko-KR" altLang="en-US" sz="1600" i="1" strike="sngStrike" dirty="0"/>
              <a:t>물론 특징이 똑같은 </a:t>
            </a:r>
            <a:r>
              <a:rPr lang="ko-KR" altLang="en-US" sz="1600" i="1" strike="sngStrike" dirty="0" err="1"/>
              <a:t>도플갱어를</a:t>
            </a:r>
            <a:r>
              <a:rPr lang="ko-KR" altLang="en-US" sz="1600" i="1" strike="sngStrike" dirty="0"/>
              <a:t> 보면 좀 무섭겠죠</a:t>
            </a:r>
            <a:r>
              <a:rPr lang="en-US" altLang="ko-KR" sz="1600" i="1" strike="sngStrike" dirty="0"/>
              <a:t>…?)</a:t>
            </a:r>
            <a:endParaRPr lang="en-US" altLang="ko-KR" i="1" strike="sngStrike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4565" y="609600"/>
            <a:ext cx="2707748" cy="180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1740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그럼 어떻게 해요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그렇다고 방법이 없는 것은 아닙니다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컴퓨터에게 두 객체가 같다고 알려주면 된답니다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 또 우리의 절대 지존 </a:t>
            </a:r>
            <a:r>
              <a:rPr lang="en-US" altLang="ko-KR" dirty="0"/>
              <a:t>Object </a:t>
            </a:r>
            <a:r>
              <a:rPr lang="ko-KR" altLang="en-US" dirty="0"/>
              <a:t>객체가 나옵니다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Java</a:t>
            </a:r>
            <a:r>
              <a:rPr lang="ko-KR" altLang="en-US" dirty="0"/>
              <a:t>에서 두 객체가 같은 지를 비교할 때는</a:t>
            </a:r>
            <a:br>
              <a:rPr lang="en-US" altLang="ko-KR" dirty="0"/>
            </a:br>
            <a:r>
              <a:rPr lang="en-US" altLang="ko-KR" dirty="0"/>
              <a:t>Object</a:t>
            </a:r>
            <a:r>
              <a:rPr lang="ko-KR" altLang="en-US" dirty="0"/>
              <a:t>의 </a:t>
            </a:r>
            <a:r>
              <a:rPr lang="en-US" altLang="ko-KR" dirty="0"/>
              <a:t>equals</a:t>
            </a:r>
            <a:r>
              <a:rPr lang="ko-KR" altLang="en-US" dirty="0"/>
              <a:t>와 </a:t>
            </a:r>
            <a:r>
              <a:rPr lang="en-US" altLang="ko-KR" dirty="0" err="1"/>
              <a:t>hashCode</a:t>
            </a:r>
            <a:r>
              <a:rPr lang="ko-KR" altLang="en-US" dirty="0"/>
              <a:t> 함수를 활용합니다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Set</a:t>
            </a:r>
            <a:r>
              <a:rPr lang="ko-KR" altLang="en-US" dirty="0"/>
              <a:t>도 동일하게 </a:t>
            </a:r>
            <a:r>
              <a:rPr lang="en-US" altLang="ko-KR" dirty="0"/>
              <a:t>equals</a:t>
            </a:r>
            <a:r>
              <a:rPr lang="ko-KR" altLang="en-US" dirty="0"/>
              <a:t>와 </a:t>
            </a:r>
            <a:r>
              <a:rPr lang="en-US" altLang="ko-KR" dirty="0" err="1"/>
              <a:t>hashCode</a:t>
            </a:r>
            <a:r>
              <a:rPr lang="ko-KR" altLang="en-US" dirty="0"/>
              <a:t>를 사용하여 같은 지를 비교하고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만약 같은 것이 들어오면 과감히 내버린 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앞 예제의 </a:t>
            </a:r>
            <a:r>
              <a:rPr lang="en-US" altLang="ko-KR" dirty="0" err="1"/>
              <a:t>toString</a:t>
            </a:r>
            <a:r>
              <a:rPr lang="en-US" altLang="ko-KR" dirty="0"/>
              <a:t> </a:t>
            </a:r>
            <a:r>
              <a:rPr lang="ko-KR" altLang="en-US" dirty="0"/>
              <a:t>함수와 비슷하게 </a:t>
            </a:r>
            <a:r>
              <a:rPr lang="en-US" altLang="ko-KR" dirty="0"/>
              <a:t>equals</a:t>
            </a:r>
            <a:r>
              <a:rPr lang="ko-KR" altLang="en-US" dirty="0"/>
              <a:t>와 </a:t>
            </a:r>
            <a:r>
              <a:rPr lang="en-US" altLang="ko-KR" dirty="0" err="1"/>
              <a:t>hashCode</a:t>
            </a:r>
            <a:r>
              <a:rPr lang="ko-KR" altLang="en-US" dirty="0"/>
              <a:t> 함수를 오버라이드하면</a:t>
            </a:r>
            <a:r>
              <a:rPr lang="en-US" altLang="ko-KR" dirty="0"/>
              <a:t>, </a:t>
            </a:r>
            <a:r>
              <a:rPr lang="ko-KR" altLang="en-US" dirty="0"/>
              <a:t>우리가 원하는 것을 이룰 수 있겠죠</a:t>
            </a:r>
            <a:r>
              <a:rPr lang="en-US" altLang="ko-KR" dirty="0"/>
              <a:t>?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1535430"/>
            <a:ext cx="3383348" cy="254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7127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혹시</a:t>
            </a:r>
            <a:r>
              <a:rPr lang="en-US" altLang="ko-KR" dirty="0"/>
              <a:t>…?</a:t>
            </a:r>
            <a:endParaRPr lang="ko-KR" altLang="en-US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43000" y="2121111"/>
            <a:ext cx="4754563" cy="3895303"/>
          </a:xfrm>
          <a:prstGeom prst="rect">
            <a:avLst/>
          </a:prstGeom>
        </p:spPr>
      </p:pic>
      <p:sp>
        <p:nvSpPr>
          <p:cNvPr id="5" name="내용 개체 틀 4"/>
          <p:cNvSpPr>
            <a:spLocks noGrp="1"/>
          </p:cNvSpPr>
          <p:nvPr>
            <p:ph sz="half" idx="2"/>
          </p:nvPr>
        </p:nvSpPr>
        <p:spPr>
          <a:xfrm>
            <a:off x="6080760" y="2057399"/>
            <a:ext cx="5505288" cy="4023360"/>
          </a:xfrm>
        </p:spPr>
        <p:txBody>
          <a:bodyPr/>
          <a:lstStyle/>
          <a:p>
            <a:r>
              <a:rPr lang="ko-KR" altLang="en-US" dirty="0"/>
              <a:t>혹시 자동 완성 기능을 </a:t>
            </a:r>
            <a:r>
              <a:rPr lang="ko-KR" altLang="en-US" dirty="0" err="1"/>
              <a:t>기대하셨나요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그렇다면 </a:t>
            </a:r>
            <a:r>
              <a:rPr lang="en-US" altLang="ko-KR" dirty="0"/>
              <a:t>Eclipse</a:t>
            </a:r>
            <a:r>
              <a:rPr lang="ko-KR" altLang="en-US" dirty="0"/>
              <a:t>의 활용에 조금 능숙해 지셨다는 뜻이랍니다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오른쪽 클릭 </a:t>
            </a:r>
            <a:r>
              <a:rPr lang="en-US" altLang="ko-KR" dirty="0"/>
              <a:t>&gt; Source &gt;</a:t>
            </a:r>
            <a:br>
              <a:rPr lang="en-US" altLang="ko-KR" dirty="0"/>
            </a:br>
            <a:r>
              <a:rPr lang="en-US" altLang="ko-KR" dirty="0"/>
              <a:t>Generate </a:t>
            </a:r>
            <a:r>
              <a:rPr lang="en-US" altLang="ko-KR" dirty="0" err="1"/>
              <a:t>hashCode</a:t>
            </a:r>
            <a:r>
              <a:rPr lang="en-US" altLang="ko-KR" dirty="0"/>
              <a:t>() and equals() </a:t>
            </a:r>
            <a:r>
              <a:rPr lang="ko-KR" altLang="en-US" dirty="0"/>
              <a:t>클릭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ko-KR" altLang="en-US" dirty="0"/>
              <a:t>깔끔하게</a:t>
            </a:r>
            <a:r>
              <a:rPr lang="en-US" altLang="ko-KR" dirty="0"/>
              <a:t> </a:t>
            </a:r>
            <a:r>
              <a:rPr lang="ko-KR" altLang="en-US" dirty="0"/>
              <a:t>완성되었네요</a:t>
            </a:r>
            <a:r>
              <a:rPr lang="en-US" altLang="ko-K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5680174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동작도 문제 없어요</a:t>
            </a:r>
            <a:r>
              <a:rPr lang="en-US" altLang="ko-KR" dirty="0"/>
              <a:t>!</a:t>
            </a:r>
            <a:endParaRPr lang="ko-KR" altLang="en-US" dirty="0"/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9964" y="3576461"/>
            <a:ext cx="7963392" cy="957440"/>
          </a:xfrm>
          <a:prstGeom prst="rect">
            <a:avLst/>
          </a:prstGeom>
        </p:spPr>
      </p:pic>
      <p:pic>
        <p:nvPicPr>
          <p:cNvPr id="8194" name="Picture 2" descr="http://2.bp.blogspot.com/-NhYKj-qPh5Q/UP-bIK2wA5I/AAAAAAAAAMk/jFF34BZLhLg/s1600/perfec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51944">
            <a:off x="6708726" y="1423146"/>
            <a:ext cx="4852205" cy="255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0970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Map&lt;K, V&gt;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세 번째 자료구조</a:t>
            </a:r>
          </a:p>
        </p:txBody>
      </p:sp>
    </p:spTree>
    <p:extLst>
      <p:ext uri="{BB962C8B-B14F-4D97-AF65-F5344CB8AC3E}">
        <p14:creationId xmlns:p14="http://schemas.microsoft.com/office/powerpoint/2010/main" val="37528654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이번에는 조금 생소할 수도 있지만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정말 활용도가 높은 객체인 </a:t>
            </a:r>
            <a:r>
              <a:rPr lang="en-US" altLang="ko-KR" dirty="0"/>
              <a:t>Map</a:t>
            </a:r>
            <a:r>
              <a:rPr lang="ko-KR" altLang="en-US" dirty="0"/>
              <a:t>을 알아보겠습니다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Map</a:t>
            </a:r>
            <a:r>
              <a:rPr lang="ko-KR" altLang="en-US" dirty="0"/>
              <a:t>은 </a:t>
            </a:r>
            <a:r>
              <a:rPr lang="en-US" altLang="ko-KR" dirty="0"/>
              <a:t>Key</a:t>
            </a:r>
            <a:r>
              <a:rPr lang="ko-KR" altLang="en-US" dirty="0"/>
              <a:t>와 </a:t>
            </a:r>
            <a:r>
              <a:rPr lang="en-US" altLang="ko-KR" dirty="0"/>
              <a:t>Value</a:t>
            </a:r>
            <a:r>
              <a:rPr lang="ko-KR" altLang="en-US" dirty="0"/>
              <a:t>가 짝을 이루고 있는 </a:t>
            </a:r>
            <a:r>
              <a:rPr lang="ko-KR" altLang="en-US" dirty="0" err="1"/>
              <a:t>자료구조입니다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Key</a:t>
            </a:r>
            <a:r>
              <a:rPr lang="ko-KR" altLang="en-US" dirty="0"/>
              <a:t>는 반드시 </a:t>
            </a:r>
            <a:r>
              <a:rPr lang="ko-KR" altLang="en-US" dirty="0" err="1"/>
              <a:t>유일해야</a:t>
            </a:r>
            <a:r>
              <a:rPr lang="ko-KR" altLang="en-US" dirty="0"/>
              <a:t> 합니다</a:t>
            </a:r>
            <a:r>
              <a:rPr lang="en-US" altLang="ko-KR" dirty="0"/>
              <a:t>. </a:t>
            </a:r>
            <a:r>
              <a:rPr lang="ko-KR" altLang="en-US" dirty="0"/>
              <a:t>즉 </a:t>
            </a:r>
            <a:r>
              <a:rPr lang="en-US" altLang="ko-KR" dirty="0"/>
              <a:t>Set</a:t>
            </a:r>
            <a:r>
              <a:rPr lang="ko-KR" altLang="en-US" dirty="0"/>
              <a:t>을 이룹니다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Value</a:t>
            </a:r>
            <a:r>
              <a:rPr lang="ko-KR" altLang="en-US" dirty="0"/>
              <a:t>는 유일할 필요는 없습니다</a:t>
            </a:r>
            <a:r>
              <a:rPr lang="en-US" altLang="ko-KR" dirty="0"/>
              <a:t>. Key</a:t>
            </a:r>
            <a:r>
              <a:rPr lang="ko-KR" altLang="en-US" dirty="0"/>
              <a:t>에 해당하는 값을 가질 뿐입니다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75" y="4045122"/>
            <a:ext cx="3090862" cy="205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412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43000" y="2438400"/>
            <a:ext cx="9872871" cy="4038600"/>
          </a:xfrm>
        </p:spPr>
        <p:txBody>
          <a:bodyPr/>
          <a:lstStyle/>
          <a:p>
            <a:r>
              <a:rPr lang="ko-KR" altLang="en-US" dirty="0"/>
              <a:t>쉬운 예로 사전이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사전은 단어와 단어에 대한 해석이 적혀 있지요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단어는 중복되지 않습니다</a:t>
            </a:r>
            <a:r>
              <a:rPr lang="en-US" altLang="ko-KR"/>
              <a:t>. </a:t>
            </a:r>
            <a:r>
              <a:rPr lang="ko-KR" altLang="en-US"/>
              <a:t>글자가 </a:t>
            </a:r>
            <a:r>
              <a:rPr lang="ko-KR" altLang="en-US" dirty="0"/>
              <a:t>같아도 </a:t>
            </a:r>
            <a:r>
              <a:rPr lang="en-US" altLang="ko-KR" dirty="0"/>
              <a:t>1, 2, 3</a:t>
            </a:r>
            <a:r>
              <a:rPr lang="ko-KR" altLang="en-US" dirty="0"/>
              <a:t>으로 구분해 놓았지요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단어를 </a:t>
            </a:r>
            <a:r>
              <a:rPr lang="en-US" altLang="ko-KR" dirty="0"/>
              <a:t>Key</a:t>
            </a:r>
            <a:r>
              <a:rPr lang="ko-KR" altLang="en-US" dirty="0"/>
              <a:t>라고 생각하시면 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사전의 목적은 단어의 해석을 보는 것이지요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똑같이 </a:t>
            </a:r>
            <a:r>
              <a:rPr lang="en-US" altLang="ko-KR" dirty="0"/>
              <a:t>Map</a:t>
            </a:r>
            <a:r>
              <a:rPr lang="ko-KR" altLang="en-US" dirty="0"/>
              <a:t>도 </a:t>
            </a:r>
            <a:r>
              <a:rPr lang="en-US" altLang="ko-KR" dirty="0"/>
              <a:t>Key</a:t>
            </a:r>
            <a:r>
              <a:rPr lang="ko-KR" altLang="en-US" dirty="0"/>
              <a:t>를 통해서 해당 </a:t>
            </a:r>
            <a:r>
              <a:rPr lang="en-US" altLang="ko-KR" dirty="0"/>
              <a:t>Value</a:t>
            </a:r>
            <a:r>
              <a:rPr lang="ko-KR" altLang="en-US" dirty="0"/>
              <a:t>를 가지고 노는 것이 주된 목적입니다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271" y="609600"/>
            <a:ext cx="2200275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3320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어떻게 쓰나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0075" y="3064709"/>
            <a:ext cx="6175843" cy="307141"/>
          </a:xfrm>
          <a:prstGeom prst="rect">
            <a:avLst/>
          </a:prstGeom>
        </p:spPr>
      </p:pic>
      <p:sp>
        <p:nvSpPr>
          <p:cNvPr id="6" name="내용 개체 틀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Map&lt;K, V&gt;</a:t>
            </a:r>
            <a:r>
              <a:rPr lang="ko-KR" altLang="en-US" dirty="0"/>
              <a:t>는 앞의 자료구조와는 조금 다른 모습을 보입니다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바로 </a:t>
            </a:r>
            <a:r>
              <a:rPr lang="en-US" altLang="ko-KR" dirty="0"/>
              <a:t>Generics</a:t>
            </a:r>
            <a:r>
              <a:rPr lang="ko-KR" altLang="en-US" dirty="0"/>
              <a:t>가 </a:t>
            </a:r>
            <a:r>
              <a:rPr lang="en-US" altLang="ko-KR" dirty="0"/>
              <a:t>2</a:t>
            </a:r>
            <a:r>
              <a:rPr lang="ko-KR" altLang="en-US" dirty="0"/>
              <a:t>개 필요하다는 점인데요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당연히 </a:t>
            </a:r>
            <a:r>
              <a:rPr lang="en-US" altLang="ko-KR" dirty="0"/>
              <a:t>Key</a:t>
            </a:r>
            <a:r>
              <a:rPr lang="ko-KR" altLang="en-US" dirty="0"/>
              <a:t>와 </a:t>
            </a:r>
            <a:r>
              <a:rPr lang="en-US" altLang="ko-KR" dirty="0"/>
              <a:t>Value</a:t>
            </a:r>
            <a:r>
              <a:rPr lang="ko-KR" altLang="en-US" dirty="0"/>
              <a:t>에 해당하는 객체를 둘 다 알아야 하니까 그렇겠죠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이제 점 하나하나에 꼬리표를 달아줘 볼까요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762125" y="4752975"/>
            <a:ext cx="564578" cy="3693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Key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40446" y="4752975"/>
            <a:ext cx="768928" cy="3693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Value</a:t>
            </a:r>
            <a:endParaRPr lang="ko-KR" altLang="en-US" dirty="0"/>
          </a:p>
        </p:txBody>
      </p:sp>
      <p:cxnSp>
        <p:nvCxnSpPr>
          <p:cNvPr id="11" name="직선 화살표 연결선 10"/>
          <p:cNvCxnSpPr>
            <a:stCxn id="8" idx="0"/>
          </p:cNvCxnSpPr>
          <p:nvPr/>
        </p:nvCxnSpPr>
        <p:spPr>
          <a:xfrm flipH="1" flipV="1">
            <a:off x="1228725" y="3218279"/>
            <a:ext cx="815689" cy="1534696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8" idx="0"/>
          </p:cNvCxnSpPr>
          <p:nvPr/>
        </p:nvCxnSpPr>
        <p:spPr>
          <a:xfrm flipV="1">
            <a:off x="2044414" y="3218279"/>
            <a:ext cx="2964960" cy="1534696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9" idx="0"/>
          </p:cNvCxnSpPr>
          <p:nvPr/>
        </p:nvCxnSpPr>
        <p:spPr>
          <a:xfrm flipH="1" flipV="1">
            <a:off x="1857375" y="3295650"/>
            <a:ext cx="2767535" cy="1457325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9" idx="0"/>
          </p:cNvCxnSpPr>
          <p:nvPr/>
        </p:nvCxnSpPr>
        <p:spPr>
          <a:xfrm flipV="1">
            <a:off x="4624910" y="3218279"/>
            <a:ext cx="994840" cy="1534696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4875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결과가 어떤가요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이제 하나씩 꼬리표를 달아봅시다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put </a:t>
            </a:r>
            <a:r>
              <a:rPr lang="ko-KR" altLang="en-US" dirty="0"/>
              <a:t>함수를 사용하면 </a:t>
            </a:r>
            <a:r>
              <a:rPr lang="en-US" altLang="ko-KR" dirty="0"/>
              <a:t>Map</a:t>
            </a:r>
            <a:r>
              <a:rPr lang="ko-KR" altLang="en-US" dirty="0"/>
              <a:t>에 점과 문자열의 쌍을 넣겠다는 뜻입니다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get </a:t>
            </a:r>
            <a:r>
              <a:rPr lang="ko-KR" altLang="en-US" dirty="0"/>
              <a:t>함수를 사용하면 이를 꺼내는 작업을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각각의 결과가 어떤가요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특히 마지막 결과는 무엇일까요</a:t>
            </a:r>
            <a:r>
              <a:rPr lang="en-US" altLang="ko-KR" dirty="0"/>
              <a:t>?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34100" y="2886074"/>
            <a:ext cx="5823315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1758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정렬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Collections.sort</a:t>
            </a:r>
            <a:endParaRPr lang="en-US" altLang="ko-KR" dirty="0"/>
          </a:p>
          <a:p>
            <a:r>
              <a:rPr lang="en-US" altLang="ko-KR" dirty="0"/>
              <a:t>Comparable</a:t>
            </a:r>
            <a:r>
              <a:rPr lang="ko-KR" altLang="en-US" dirty="0"/>
              <a:t>과 </a:t>
            </a:r>
            <a:r>
              <a:rPr lang="en-US" altLang="ko-KR" dirty="0"/>
              <a:t>Comparator</a:t>
            </a:r>
          </a:p>
          <a:p>
            <a:r>
              <a:rPr lang="en-US" altLang="ko-KR" dirty="0"/>
              <a:t>Anonymous Class</a:t>
            </a:r>
            <a:r>
              <a:rPr lang="ko-KR" altLang="en-US" dirty="0"/>
              <a:t>와 </a:t>
            </a:r>
            <a:r>
              <a:rPr lang="en-US" altLang="ko-KR" dirty="0"/>
              <a:t>Template Method Pattern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08281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키 작은 순으로 서 봐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자료구조에서</a:t>
            </a:r>
            <a:r>
              <a:rPr lang="en-US" altLang="ko-KR" dirty="0"/>
              <a:t>, </a:t>
            </a:r>
            <a:r>
              <a:rPr lang="ko-KR" altLang="en-US" dirty="0"/>
              <a:t>특히 </a:t>
            </a:r>
            <a:r>
              <a:rPr lang="en-US" altLang="ko-KR" dirty="0"/>
              <a:t>List</a:t>
            </a:r>
            <a:r>
              <a:rPr lang="ko-KR" altLang="en-US" dirty="0"/>
              <a:t>에서 자료를 정렬하는 것은 매우 중요합니다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때문에 여러가지 정렬 알고리즘이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우리가 구현한 </a:t>
            </a:r>
            <a:r>
              <a:rPr lang="en-US" altLang="ko-KR" dirty="0"/>
              <a:t>List&lt;T&gt;</a:t>
            </a:r>
            <a:r>
              <a:rPr lang="ko-KR" altLang="en-US" dirty="0"/>
              <a:t>는 어떻게 정렬할까요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직접 뜯어서 우리가 하나씩 정렬해 주어야 할까요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설마요</a:t>
            </a:r>
            <a:r>
              <a:rPr lang="en-US" altLang="ko-KR" dirty="0"/>
              <a:t>….</a:t>
            </a:r>
          </a:p>
          <a:p>
            <a:r>
              <a:rPr lang="en-US" altLang="ko-KR" dirty="0"/>
              <a:t>Java</a:t>
            </a:r>
            <a:r>
              <a:rPr lang="ko-KR" altLang="en-US" dirty="0"/>
              <a:t>에서는 </a:t>
            </a:r>
            <a:r>
              <a:rPr lang="en-US" altLang="ko-KR" dirty="0"/>
              <a:t>Collections</a:t>
            </a:r>
            <a:r>
              <a:rPr lang="ko-KR" altLang="en-US" dirty="0"/>
              <a:t>라는 객체를 통해서 여러가지 </a:t>
            </a:r>
            <a:r>
              <a:rPr lang="en-US" altLang="ko-KR" dirty="0"/>
              <a:t>Collection</a:t>
            </a:r>
            <a:r>
              <a:rPr lang="ko-KR" altLang="en-US" dirty="0"/>
              <a:t>에 필요한 함수들을 제공하고 있습니다</a:t>
            </a:r>
            <a:r>
              <a:rPr lang="en-US" altLang="ko-KR" dirty="0"/>
              <a:t>.</a:t>
            </a:r>
          </a:p>
        </p:txBody>
      </p:sp>
      <p:pic>
        <p:nvPicPr>
          <p:cNvPr id="9218" name="Picture 2" descr="https://thumbs.dreamstime.com/z/cats-row-looking-away-order-height-58454947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81" b="22531"/>
          <a:stretch/>
        </p:blipFill>
        <p:spPr bwMode="auto">
          <a:xfrm>
            <a:off x="6383144" y="4456469"/>
            <a:ext cx="5023252" cy="163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75774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Collections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Collections</a:t>
            </a:r>
            <a:r>
              <a:rPr lang="ko-KR" altLang="en-US" dirty="0"/>
              <a:t>의 </a:t>
            </a:r>
            <a:r>
              <a:rPr lang="en-US" altLang="ko-KR" dirty="0"/>
              <a:t>sort </a:t>
            </a:r>
            <a:r>
              <a:rPr lang="ko-KR" altLang="en-US" dirty="0"/>
              <a:t>함수를 사용하면 </a:t>
            </a:r>
            <a:r>
              <a:rPr lang="en-US" altLang="ko-KR" dirty="0"/>
              <a:t>List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정렬할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위의 것은 조금 감이 오네요</a:t>
            </a:r>
            <a:r>
              <a:rPr lang="en-US" altLang="ko-KR" dirty="0"/>
              <a:t>. </a:t>
            </a:r>
            <a:r>
              <a:rPr lang="ko-KR" altLang="en-US" dirty="0" err="1"/>
              <a:t>파라미터가</a:t>
            </a:r>
            <a:r>
              <a:rPr lang="ko-KR" altLang="en-US" dirty="0"/>
              <a:t> 하나니까</a:t>
            </a:r>
            <a:r>
              <a:rPr lang="en-US" altLang="ko-KR" dirty="0"/>
              <a:t>, </a:t>
            </a:r>
            <a:r>
              <a:rPr lang="ko-KR" altLang="en-US" dirty="0"/>
              <a:t>이 </a:t>
            </a:r>
            <a:r>
              <a:rPr lang="en-US" altLang="ko-KR" dirty="0"/>
              <a:t>list</a:t>
            </a:r>
            <a:r>
              <a:rPr lang="ko-KR" altLang="en-US" dirty="0"/>
              <a:t>를 정렬한다는 의미겠죠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대신 좀 더 정확히 알기 위해서는 </a:t>
            </a:r>
            <a:r>
              <a:rPr lang="en-US" altLang="ko-KR" dirty="0"/>
              <a:t>Comparable</a:t>
            </a:r>
            <a:r>
              <a:rPr lang="ko-KR" altLang="en-US" dirty="0"/>
              <a:t>이 무엇인지 알아야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아래는 두 번째 </a:t>
            </a:r>
            <a:r>
              <a:rPr lang="ko-KR" altLang="en-US" dirty="0" err="1"/>
              <a:t>파라미터가</a:t>
            </a:r>
            <a:r>
              <a:rPr lang="ko-KR" altLang="en-US" dirty="0"/>
              <a:t> 도대체 무엇인지 감이 잘 오지 않을 거에요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아래의 것을 이해하기 위해서는 </a:t>
            </a:r>
            <a:r>
              <a:rPr lang="en-US" altLang="ko-KR" dirty="0"/>
              <a:t>Comparator</a:t>
            </a:r>
            <a:r>
              <a:rPr lang="ko-KR" altLang="en-US" dirty="0"/>
              <a:t>가 무엇인지 설명해야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객체 이름에 주의하세요</a:t>
            </a:r>
            <a:r>
              <a:rPr lang="en-US" altLang="ko-KR" dirty="0"/>
              <a:t>. Collections</a:t>
            </a:r>
            <a:r>
              <a:rPr lang="ko-KR" altLang="en-US" dirty="0"/>
              <a:t>로 끝에 </a:t>
            </a:r>
            <a:r>
              <a:rPr lang="en-US" altLang="ko-KR" dirty="0"/>
              <a:t>s</a:t>
            </a:r>
            <a:r>
              <a:rPr lang="ko-KR" altLang="en-US" dirty="0"/>
              <a:t>가 붙어있습니다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sz="1600" i="1" strike="sngStrike" dirty="0"/>
              <a:t>(</a:t>
            </a:r>
            <a:r>
              <a:rPr lang="ko-KR" altLang="en-US" sz="1600" i="1" strike="sngStrike" dirty="0"/>
              <a:t>이건 </a:t>
            </a:r>
            <a:r>
              <a:rPr lang="en-US" altLang="ko-KR" sz="1600" i="1" strike="sngStrike" dirty="0"/>
              <a:t>Naming</a:t>
            </a:r>
            <a:r>
              <a:rPr lang="ko-KR" altLang="en-US" sz="1600" i="1" strike="sngStrike" dirty="0"/>
              <a:t>이 많이 구린 듯</a:t>
            </a:r>
            <a:r>
              <a:rPr lang="en-US" altLang="ko-KR" sz="1600" i="1" strike="sngStrike" dirty="0"/>
              <a:t>…)</a:t>
            </a:r>
            <a:endParaRPr lang="en-US" altLang="ko-KR" i="1" strike="sngStrike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869" y="2668150"/>
            <a:ext cx="7671440" cy="53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7163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Comparable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Comparable</a:t>
            </a:r>
            <a:r>
              <a:rPr lang="ko-KR" altLang="en-US" dirty="0"/>
              <a:t>은 인터페이스입니다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인터페이스를 구현한 객체는 반드시 </a:t>
            </a:r>
            <a:r>
              <a:rPr lang="en-US" altLang="ko-KR" dirty="0" err="1"/>
              <a:t>compareTo</a:t>
            </a:r>
            <a:r>
              <a:rPr lang="ko-KR" altLang="en-US" dirty="0"/>
              <a:t> 함수를 구현해야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compareTo</a:t>
            </a:r>
            <a:r>
              <a:rPr lang="ko-KR" altLang="en-US" dirty="0"/>
              <a:t>에서는 비교하는 객체보다 자신이 큰지 같은지</a:t>
            </a:r>
            <a:r>
              <a:rPr lang="en-US" altLang="ko-KR" dirty="0"/>
              <a:t> </a:t>
            </a:r>
            <a:r>
              <a:rPr lang="ko-KR" altLang="en-US" dirty="0" err="1"/>
              <a:t>작은지를</a:t>
            </a:r>
            <a:r>
              <a:rPr lang="ko-KR" altLang="en-US" dirty="0"/>
              <a:t> 반환합니다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0242" name="Picture 2" descr="http://www.macobserver.com/imgs/teaser_images/20140620appletoapplescomparison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957" y="2635024"/>
            <a:ext cx="4754563" cy="258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16432" y="2635024"/>
            <a:ext cx="681597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/>
              <a:t>내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4857" y="2635024"/>
            <a:ext cx="681597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/>
              <a:t>네 것</a:t>
            </a:r>
          </a:p>
        </p:txBody>
      </p:sp>
    </p:spTree>
    <p:extLst>
      <p:ext uri="{BB962C8B-B14F-4D97-AF65-F5344CB8AC3E}">
        <p14:creationId xmlns:p14="http://schemas.microsoft.com/office/powerpoint/2010/main" val="13641315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Comparator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Comparator</a:t>
            </a:r>
            <a:r>
              <a:rPr lang="ko-KR" altLang="en-US" dirty="0"/>
              <a:t>도 인터페이스입니다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하지만 </a:t>
            </a:r>
            <a:r>
              <a:rPr lang="en-US" altLang="ko-KR" dirty="0"/>
              <a:t>Comparable</a:t>
            </a:r>
            <a:r>
              <a:rPr lang="ko-KR" altLang="en-US" dirty="0"/>
              <a:t>과는 다르게 비교하는 객체에 구현하지 않습니다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대신 두 객체를 비교하는 새로운 객체에 구현합니다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여기서 </a:t>
            </a:r>
            <a:r>
              <a:rPr lang="en-US" altLang="ko-KR" dirty="0"/>
              <a:t>compare </a:t>
            </a:r>
            <a:r>
              <a:rPr lang="ko-KR" altLang="en-US" dirty="0"/>
              <a:t>함수를 구현하면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1266" name="Picture 2" descr="http://chrislema.com/wp-content/uploads/genesis-and-thesis-comparison-600x295.pn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899932"/>
            <a:ext cx="4754563" cy="2337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409700" y="2562225"/>
            <a:ext cx="898003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/>
              <a:t>철수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24425" y="2562225"/>
            <a:ext cx="898003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/>
              <a:t>영희 것</a:t>
            </a:r>
          </a:p>
        </p:txBody>
      </p:sp>
    </p:spTree>
    <p:extLst>
      <p:ext uri="{BB962C8B-B14F-4D97-AF65-F5344CB8AC3E}">
        <p14:creationId xmlns:p14="http://schemas.microsoft.com/office/powerpoint/2010/main" val="28454081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여기서만 쓸 거 같은데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저는 </a:t>
            </a:r>
            <a:r>
              <a:rPr lang="en-US" altLang="ko-KR" dirty="0"/>
              <a:t>Comparator</a:t>
            </a:r>
            <a:r>
              <a:rPr lang="ko-KR" altLang="en-US" dirty="0"/>
              <a:t>를 활용해서 비교를 해보도록 하겠습니다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근데 이번 한번만 필요할 거 같은데</a:t>
            </a:r>
            <a:r>
              <a:rPr lang="en-US" altLang="ko-KR" dirty="0"/>
              <a:t>, </a:t>
            </a:r>
            <a:r>
              <a:rPr lang="ko-KR" altLang="en-US" dirty="0"/>
              <a:t>객체를 새로 생성해야 할까요</a:t>
            </a:r>
            <a:endParaRPr lang="en-US" altLang="ko-KR" dirty="0"/>
          </a:p>
          <a:p>
            <a:r>
              <a:rPr lang="ko-KR" altLang="en-US" dirty="0"/>
              <a:t>객체를 많이 만드는 것도 좋지만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그렇다고 너무 많이 만들면 복잡해지겠죠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212" y="4191000"/>
            <a:ext cx="1895475" cy="1905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779" y="41910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5018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일회용 객체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이런 고민을 하는 당신을 위한 최적의 선택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Java</a:t>
            </a:r>
            <a:r>
              <a:rPr lang="ko-KR" altLang="en-US" dirty="0"/>
              <a:t>에는 객체를 필요할 때 딱 한번 쓰고 버릴 수 있는 방법이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바로 익명 클래스</a:t>
            </a:r>
            <a:r>
              <a:rPr lang="en-US" altLang="ko-KR" dirty="0"/>
              <a:t>(Anonymous Class)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인터페이스를 구현해야 하는데 그렇게 많이 쓰이지 않거나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급하게 필요한 경우에 한해서 사용하면 좋습니다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익명 클래스인 이유는 해당 인터페이스를 구현하지만</a:t>
            </a:r>
            <a:br>
              <a:rPr lang="en-US" altLang="ko-KR" dirty="0"/>
            </a:br>
            <a:r>
              <a:rPr lang="ko-KR" altLang="en-US" dirty="0"/>
              <a:t>클래스 이름이 없기 때문이지요</a:t>
            </a:r>
            <a:r>
              <a:rPr lang="en-US" altLang="ko-KR" dirty="0"/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746" y="3952875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1822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 이제 정렬해 보자</a:t>
            </a:r>
            <a:r>
              <a:rPr lang="en-US" altLang="ko-KR" dirty="0"/>
              <a:t>!</a:t>
            </a:r>
            <a:endParaRPr lang="ko-KR" altLang="en-US" dirty="0"/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79102" y="2638425"/>
            <a:ext cx="5547062" cy="2636414"/>
          </a:xfrm>
          <a:prstGeom prst="rect">
            <a:avLst/>
          </a:prstGeom>
        </p:spPr>
      </p:pic>
      <p:sp>
        <p:nvSpPr>
          <p:cNvPr id="5" name="내용 개체 틀 4"/>
          <p:cNvSpPr>
            <a:spLocks noGrp="1"/>
          </p:cNvSpPr>
          <p:nvPr>
            <p:ph sz="half" idx="2"/>
          </p:nvPr>
        </p:nvSpPr>
        <p:spPr>
          <a:xfrm>
            <a:off x="5857875" y="2057400"/>
            <a:ext cx="5943600" cy="4023360"/>
          </a:xfrm>
        </p:spPr>
        <p:txBody>
          <a:bodyPr>
            <a:normAutofit/>
          </a:bodyPr>
          <a:lstStyle/>
          <a:p>
            <a:r>
              <a:rPr lang="en-US" altLang="ko-KR" dirty="0"/>
              <a:t>x</a:t>
            </a:r>
            <a:r>
              <a:rPr lang="ko-KR" altLang="en-US" dirty="0"/>
              <a:t>좌표를 기준으로 오름차순으로 정렬시키고자 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Sort</a:t>
            </a:r>
            <a:r>
              <a:rPr lang="ko-KR" altLang="en-US" dirty="0"/>
              <a:t> 함수는 </a:t>
            </a:r>
            <a:r>
              <a:rPr lang="en-US" altLang="ko-KR" dirty="0"/>
              <a:t>Comparator</a:t>
            </a:r>
            <a:r>
              <a:rPr lang="ko-KR" altLang="en-US" dirty="0"/>
              <a:t>의 규칙에 따라 </a:t>
            </a:r>
            <a:r>
              <a:rPr lang="en-US" altLang="ko-KR" dirty="0"/>
              <a:t>List</a:t>
            </a:r>
            <a:r>
              <a:rPr lang="ko-KR" altLang="en-US" dirty="0"/>
              <a:t>를 오름차순</a:t>
            </a:r>
            <a:r>
              <a:rPr lang="en-US" altLang="ko-KR" dirty="0"/>
              <a:t>(</a:t>
            </a:r>
            <a:r>
              <a:rPr lang="ko-KR" altLang="en-US" dirty="0"/>
              <a:t>작은 것에서 큰 것</a:t>
            </a:r>
            <a:r>
              <a:rPr lang="en-US" altLang="ko-KR" dirty="0"/>
              <a:t>)</a:t>
            </a:r>
            <a:r>
              <a:rPr lang="ko-KR" altLang="en-US" dirty="0"/>
              <a:t>으로 정렬합니다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Compare </a:t>
            </a:r>
            <a:r>
              <a:rPr lang="ko-KR" altLang="en-US" dirty="0"/>
              <a:t>함수가</a:t>
            </a:r>
            <a:br>
              <a:rPr lang="en-US" altLang="ko-KR" dirty="0"/>
            </a:br>
            <a:r>
              <a:rPr lang="ko-KR" altLang="en-US" dirty="0"/>
              <a:t>음수를 반환하면 앞의 것이 작다는 뜻입니다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양수를 반환하면 앞의 것이 크다는 의미입니다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당연히 </a:t>
            </a:r>
            <a:r>
              <a:rPr lang="en-US" altLang="ko-KR" dirty="0"/>
              <a:t>0</a:t>
            </a:r>
            <a:r>
              <a:rPr lang="ko-KR" altLang="en-US" dirty="0"/>
              <a:t>을 반환하면 같다는 의미입니다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733800" y="1827014"/>
            <a:ext cx="1330814" cy="3693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/>
              <a:t>익명 클래스</a:t>
            </a:r>
          </a:p>
        </p:txBody>
      </p:sp>
      <p:cxnSp>
        <p:nvCxnSpPr>
          <p:cNvPr id="10" name="직선 화살표 연결선 9"/>
          <p:cNvCxnSpPr>
            <a:stCxn id="8" idx="2"/>
          </p:cNvCxnSpPr>
          <p:nvPr/>
        </p:nvCxnSpPr>
        <p:spPr>
          <a:xfrm>
            <a:off x="4399207" y="2196346"/>
            <a:ext cx="153743" cy="442079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4105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드디어</a:t>
            </a:r>
            <a:r>
              <a:rPr lang="en-US" altLang="ko-KR" dirty="0"/>
              <a:t>!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100" y="2453263"/>
            <a:ext cx="8079639" cy="60273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920" y="3543300"/>
            <a:ext cx="374332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3721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2920" indent="-457200">
              <a:buFont typeface="+mj-lt"/>
              <a:buAutoNum type="arabicPeriod"/>
            </a:pPr>
            <a:r>
              <a:rPr lang="en-US" altLang="ko-KR" dirty="0"/>
              <a:t>List&lt;T&gt;</a:t>
            </a:r>
            <a:r>
              <a:rPr lang="ko-KR" altLang="en-US" dirty="0"/>
              <a:t>와 </a:t>
            </a:r>
            <a:r>
              <a:rPr lang="en-US" altLang="ko-KR" dirty="0"/>
              <a:t>Set&lt;T&gt;</a:t>
            </a:r>
            <a:r>
              <a:rPr lang="ko-KR" altLang="en-US" dirty="0"/>
              <a:t>를 동시에 정렬하는 </a:t>
            </a:r>
            <a:r>
              <a:rPr lang="ko-KR" altLang="en-US" dirty="0" err="1"/>
              <a:t>메소드를</a:t>
            </a:r>
            <a:r>
              <a:rPr lang="ko-KR" altLang="en-US" dirty="0"/>
              <a:t> 만들어 보세요</a:t>
            </a:r>
            <a:r>
              <a:rPr lang="en-US" altLang="ko-KR" dirty="0"/>
              <a:t>.</a:t>
            </a:r>
          </a:p>
          <a:p>
            <a:pPr marL="502920" indent="-457200">
              <a:buFont typeface="+mj-lt"/>
              <a:buAutoNum type="arabicPeriod"/>
            </a:pPr>
            <a:r>
              <a:rPr lang="en-US" altLang="ko-KR" dirty="0"/>
              <a:t>Y </a:t>
            </a:r>
            <a:r>
              <a:rPr lang="ko-KR" altLang="en-US" dirty="0"/>
              <a:t>필드에 대해서 내림차순으로 정렬해 보세요</a:t>
            </a:r>
            <a:r>
              <a:rPr lang="en-US" altLang="ko-KR" dirty="0"/>
              <a:t>.</a:t>
            </a:r>
          </a:p>
          <a:p>
            <a:pPr marL="502920" indent="-457200">
              <a:buFont typeface="+mj-lt"/>
              <a:buAutoNum type="arabicPeriod"/>
            </a:pPr>
            <a:r>
              <a:rPr lang="en-US" altLang="ko-KR" dirty="0"/>
              <a:t>Comparable</a:t>
            </a:r>
            <a:r>
              <a:rPr lang="ko-KR" altLang="en-US" dirty="0"/>
              <a:t> 인터페이스를 활용하여 정렬해 보세요</a:t>
            </a:r>
            <a:r>
              <a:rPr lang="en-US" altLang="ko-KR" dirty="0"/>
              <a:t>.</a:t>
            </a:r>
          </a:p>
          <a:p>
            <a:pPr marL="502920" indent="-457200">
              <a:buFont typeface="+mj-lt"/>
              <a:buAutoNum type="arabicPeriod"/>
            </a:pPr>
            <a:r>
              <a:rPr lang="ko-KR" altLang="en-US" dirty="0"/>
              <a:t>이번엔 점들의 집합으로 이루어진 다각형</a:t>
            </a:r>
            <a:r>
              <a:rPr lang="en-US" altLang="ko-KR" dirty="0"/>
              <a:t>(Polygon)</a:t>
            </a:r>
            <a:r>
              <a:rPr lang="ko-KR" altLang="en-US" dirty="0"/>
              <a:t>이라는 객체를 생각해 봅시다</a:t>
            </a:r>
            <a:r>
              <a:rPr lang="en-US" altLang="ko-KR" dirty="0"/>
              <a:t>. </a:t>
            </a:r>
            <a:r>
              <a:rPr lang="ko-KR" altLang="en-US" dirty="0"/>
              <a:t> 주어진 소스 코드를 완성시켜 보세요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32884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수고하셨습니다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질문이 있으면 말씀해 주세요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543724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">
  <a:themeElements>
    <a:clrScheme name="기본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사용자 지정 1">
      <a:majorFont>
        <a:latin typeface="나눔스퀘어 Bold"/>
        <a:ea typeface="나눔스퀘어 Bold"/>
        <a:cs typeface=""/>
      </a:majorFont>
      <a:minorFont>
        <a:latin typeface="나눔고딕"/>
        <a:ea typeface="나눔고딕"/>
        <a:cs typeface=""/>
      </a:minorFont>
    </a:fontScheme>
    <a:fmtScheme name="기본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TM03457444[[fn=기본]]</Template>
  <TotalTime>256</TotalTime>
  <Words>945</Words>
  <Application>Microsoft Office PowerPoint</Application>
  <PresentationFormat>와이드스크린</PresentationFormat>
  <Paragraphs>293</Paragraphs>
  <Slides>54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59" baseType="lpstr">
      <vt:lpstr>나눔고딕</vt:lpstr>
      <vt:lpstr>나눔스퀘어 Bold</vt:lpstr>
      <vt:lpstr>Arial</vt:lpstr>
      <vt:lpstr>Corbel</vt:lpstr>
      <vt:lpstr>기본</vt:lpstr>
      <vt:lpstr>Generics &amp; Collection</vt:lpstr>
      <vt:lpstr>목차</vt:lpstr>
      <vt:lpstr>들어가기</vt:lpstr>
      <vt:lpstr>자료구조 잘 알죠?</vt:lpstr>
      <vt:lpstr>Collection</vt:lpstr>
      <vt:lpstr>몰라요.</vt:lpstr>
      <vt:lpstr>Generics</vt:lpstr>
      <vt:lpstr>잠깐!</vt:lpstr>
      <vt:lpstr>들어가기 앞서</vt:lpstr>
      <vt:lpstr>이렇게 만들었나요?</vt:lpstr>
      <vt:lpstr>main함수가 필요해요.</vt:lpstr>
      <vt:lpstr>정점을 정의하죠!</vt:lpstr>
      <vt:lpstr>List&lt;t&gt;</vt:lpstr>
      <vt:lpstr>이제 자료구조를 만들어 봅시다.</vt:lpstr>
      <vt:lpstr>우리 똑똑한 Eclipse~</vt:lpstr>
      <vt:lpstr>좀 더 뜯어볼까요?</vt:lpstr>
      <vt:lpstr>이제 넣어 봐야지?</vt:lpstr>
      <vt:lpstr>잘 들어갔나?</vt:lpstr>
      <vt:lpstr>원시인도 아니고…</vt:lpstr>
      <vt:lpstr>잠깐 그 전에!</vt:lpstr>
      <vt:lpstr>Iterator? 그게 뭐야?</vt:lpstr>
      <vt:lpstr>이런 for는 처음이야~</vt:lpstr>
      <vt:lpstr>실행을 했는데…</vt:lpstr>
      <vt:lpstr>여기서 질문!</vt:lpstr>
      <vt:lpstr>Java에는 신이 계십니다.</vt:lpstr>
      <vt:lpstr>그렇다면?</vt:lpstr>
      <vt:lpstr>이걸 또 Eclipse가!</vt:lpstr>
      <vt:lpstr>아…아름다워…</vt:lpstr>
      <vt:lpstr>Set&lt;T&gt;</vt:lpstr>
      <vt:lpstr>집합?</vt:lpstr>
      <vt:lpstr>Set&lt;T&gt;</vt:lpstr>
      <vt:lpstr>생성자가 이상해요.</vt:lpstr>
      <vt:lpstr>출력을 해볼까요?</vt:lpstr>
      <vt:lpstr>이건 집합이 아니잖아?</vt:lpstr>
      <vt:lpstr>무엇이 너희를 다르게 하였나?</vt:lpstr>
      <vt:lpstr>그럼 어떻게 해요?</vt:lpstr>
      <vt:lpstr>혹시…?</vt:lpstr>
      <vt:lpstr>동작도 문제 없어요!</vt:lpstr>
      <vt:lpstr>Map&lt;K, V&gt;</vt:lpstr>
      <vt:lpstr>지도?</vt:lpstr>
      <vt:lpstr>사전?</vt:lpstr>
      <vt:lpstr>어떻게 쓰나?</vt:lpstr>
      <vt:lpstr>결과가 어떤가요?</vt:lpstr>
      <vt:lpstr>정렬</vt:lpstr>
      <vt:lpstr>키 작은 순으로 서 봐~</vt:lpstr>
      <vt:lpstr>Collections</vt:lpstr>
      <vt:lpstr>Comparable</vt:lpstr>
      <vt:lpstr>Comparator</vt:lpstr>
      <vt:lpstr>여기서만 쓸 거 같은데…</vt:lpstr>
      <vt:lpstr>일회용 객체?</vt:lpstr>
      <vt:lpstr>자 이제 정렬해 보자!</vt:lpstr>
      <vt:lpstr>드디어!</vt:lpstr>
      <vt:lpstr>연습문제</vt:lpstr>
      <vt:lpstr>수고하셨습니다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Objects Generics collections</dc:title>
  <dc:creator>신용호</dc:creator>
  <cp:lastModifiedBy>신용호</cp:lastModifiedBy>
  <cp:revision>42</cp:revision>
  <dcterms:created xsi:type="dcterms:W3CDTF">2016-08-14T00:24:21Z</dcterms:created>
  <dcterms:modified xsi:type="dcterms:W3CDTF">2016-08-14T04:41:27Z</dcterms:modified>
</cp:coreProperties>
</file>