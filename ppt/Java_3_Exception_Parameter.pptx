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0" r:id="rId7"/>
    <p:sldId id="294" r:id="rId8"/>
    <p:sldId id="291" r:id="rId9"/>
    <p:sldId id="292" r:id="rId10"/>
    <p:sldId id="293" r:id="rId11"/>
    <p:sldId id="295" r:id="rId12"/>
    <p:sldId id="297" r:id="rId13"/>
    <p:sldId id="296" r:id="rId14"/>
    <p:sldId id="298" r:id="rId15"/>
    <p:sldId id="299" r:id="rId16"/>
    <p:sldId id="300" r:id="rId17"/>
    <p:sldId id="301" r:id="rId18"/>
    <p:sldId id="302" r:id="rId19"/>
    <p:sldId id="261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941E47-B107-43F4-8F6B-91021236D5B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8D2953B-62B6-45E2-9B70-A89138DEF160}">
      <dgm:prSet phldrT="[텍스트]"/>
      <dgm:spPr/>
      <dgm:t>
        <a:bodyPr/>
        <a:lstStyle/>
        <a:p>
          <a:pPr latinLnBrk="1"/>
          <a:r>
            <a:rPr lang="ko-KR" altLang="en-US" dirty="0"/>
            <a:t>예외 발생</a:t>
          </a:r>
        </a:p>
      </dgm:t>
    </dgm:pt>
    <dgm:pt modelId="{1B561804-A804-47B6-B923-76E8CCBE10E7}" type="parTrans" cxnId="{CB0C0534-417C-4CDB-A23E-391C4D66353C}">
      <dgm:prSet/>
      <dgm:spPr/>
      <dgm:t>
        <a:bodyPr/>
        <a:lstStyle/>
        <a:p>
          <a:pPr latinLnBrk="1"/>
          <a:endParaRPr lang="ko-KR" altLang="en-US"/>
        </a:p>
      </dgm:t>
    </dgm:pt>
    <dgm:pt modelId="{CDF68518-ED53-4B12-951A-0AB66BA4FDBC}" type="sibTrans" cxnId="{CB0C0534-417C-4CDB-A23E-391C4D66353C}">
      <dgm:prSet/>
      <dgm:spPr/>
      <dgm:t>
        <a:bodyPr/>
        <a:lstStyle/>
        <a:p>
          <a:pPr latinLnBrk="1"/>
          <a:endParaRPr lang="ko-KR" altLang="en-US"/>
        </a:p>
      </dgm:t>
    </dgm:pt>
    <dgm:pt modelId="{D4685E7B-0153-424D-819D-388AFD6FDE85}">
      <dgm:prSet phldrT="[텍스트]"/>
      <dgm:spPr/>
      <dgm:t>
        <a:bodyPr/>
        <a:lstStyle/>
        <a:p>
          <a:pPr latinLnBrk="1"/>
          <a:r>
            <a:rPr lang="ko-KR" altLang="en-US" dirty="0"/>
            <a:t>예외 투척</a:t>
          </a:r>
        </a:p>
      </dgm:t>
    </dgm:pt>
    <dgm:pt modelId="{7B02ED62-EF76-42B9-A18F-C637B32C775F}" type="parTrans" cxnId="{ED35C966-B984-4273-A6B9-62665B7137FC}">
      <dgm:prSet/>
      <dgm:spPr/>
      <dgm:t>
        <a:bodyPr/>
        <a:lstStyle/>
        <a:p>
          <a:pPr latinLnBrk="1"/>
          <a:endParaRPr lang="ko-KR" altLang="en-US"/>
        </a:p>
      </dgm:t>
    </dgm:pt>
    <dgm:pt modelId="{C297CFCC-8E43-4B7B-B1EE-A5D0323EB54A}" type="sibTrans" cxnId="{ED35C966-B984-4273-A6B9-62665B7137FC}">
      <dgm:prSet/>
      <dgm:spPr/>
      <dgm:t>
        <a:bodyPr/>
        <a:lstStyle/>
        <a:p>
          <a:pPr latinLnBrk="1"/>
          <a:endParaRPr lang="ko-KR" altLang="en-US"/>
        </a:p>
      </dgm:t>
    </dgm:pt>
    <dgm:pt modelId="{0127A9F5-852D-459C-93C5-0DB299C26617}">
      <dgm:prSet phldrT="[텍스트]"/>
      <dgm:spPr/>
      <dgm:t>
        <a:bodyPr/>
        <a:lstStyle/>
        <a:p>
          <a:pPr latinLnBrk="1"/>
          <a:r>
            <a:rPr lang="ko-KR" altLang="en-US" dirty="0"/>
            <a:t>예외 처리</a:t>
          </a:r>
        </a:p>
      </dgm:t>
    </dgm:pt>
    <dgm:pt modelId="{BA8B5E55-CC91-4625-8F70-3B771A9D9BDF}" type="parTrans" cxnId="{0C53C82B-0AA8-46C5-918F-21DFCA1ED3AC}">
      <dgm:prSet/>
      <dgm:spPr/>
      <dgm:t>
        <a:bodyPr/>
        <a:lstStyle/>
        <a:p>
          <a:pPr latinLnBrk="1"/>
          <a:endParaRPr lang="ko-KR" altLang="en-US"/>
        </a:p>
      </dgm:t>
    </dgm:pt>
    <dgm:pt modelId="{5D5A2EF8-730C-4704-B2B4-8A32F6A9B31F}" type="sibTrans" cxnId="{0C53C82B-0AA8-46C5-918F-21DFCA1ED3AC}">
      <dgm:prSet/>
      <dgm:spPr/>
      <dgm:t>
        <a:bodyPr/>
        <a:lstStyle/>
        <a:p>
          <a:pPr latinLnBrk="1"/>
          <a:endParaRPr lang="ko-KR" altLang="en-US"/>
        </a:p>
      </dgm:t>
    </dgm:pt>
    <dgm:pt modelId="{1EA1CED4-9D6C-474C-9F02-A9505373A3E0}">
      <dgm:prSet phldrT="[텍스트]"/>
      <dgm:spPr/>
      <dgm:t>
        <a:bodyPr/>
        <a:lstStyle/>
        <a:p>
          <a:pPr latinLnBrk="1"/>
          <a:r>
            <a:rPr lang="ko-KR" altLang="en-US" dirty="0"/>
            <a:t>코드의 진행 중에 무엇인가가 잘못된 경우 예외 객체를 생성하고 </a:t>
          </a:r>
          <a:r>
            <a:rPr lang="en-US" altLang="ko-KR" dirty="0"/>
            <a:t>throw</a:t>
          </a:r>
          <a:r>
            <a:rPr lang="ko-KR" altLang="en-US" dirty="0"/>
            <a:t>를 사용하여 알린다</a:t>
          </a:r>
          <a:r>
            <a:rPr lang="en-US" altLang="ko-KR" dirty="0"/>
            <a:t>.</a:t>
          </a:r>
          <a:endParaRPr lang="ko-KR" altLang="en-US" dirty="0"/>
        </a:p>
      </dgm:t>
    </dgm:pt>
    <dgm:pt modelId="{151981F5-9472-4244-98D9-F1A718FF2C01}" type="parTrans" cxnId="{23FA4B56-450E-4A14-9375-07E0E81D2299}">
      <dgm:prSet/>
      <dgm:spPr/>
    </dgm:pt>
    <dgm:pt modelId="{A1660FE7-A847-41D8-A112-AD936FF742D1}" type="sibTrans" cxnId="{23FA4B56-450E-4A14-9375-07E0E81D2299}">
      <dgm:prSet/>
      <dgm:spPr/>
      <dgm:t>
        <a:bodyPr/>
        <a:lstStyle/>
        <a:p>
          <a:pPr latinLnBrk="1"/>
          <a:endParaRPr lang="ko-KR" altLang="en-US"/>
        </a:p>
      </dgm:t>
    </dgm:pt>
    <dgm:pt modelId="{41978479-B352-4CA6-B483-ADC9A3EB8CA9}">
      <dgm:prSet phldrT="[텍스트]"/>
      <dgm:spPr/>
      <dgm:t>
        <a:bodyPr/>
        <a:lstStyle/>
        <a:p>
          <a:pPr latinLnBrk="1"/>
          <a:r>
            <a:rPr lang="ko-KR" altLang="en-US" dirty="0"/>
            <a:t>발생한 예외가 해당 </a:t>
          </a:r>
          <a:r>
            <a:rPr lang="ko-KR" altLang="en-US" dirty="0" err="1"/>
            <a:t>메소드에서</a:t>
          </a:r>
          <a:r>
            <a:rPr lang="ko-KR" altLang="en-US" dirty="0"/>
            <a:t> 해결할 수 없을 때</a:t>
          </a:r>
          <a:r>
            <a:rPr lang="en-US" altLang="ko-KR" dirty="0"/>
            <a:t>, throws</a:t>
          </a:r>
          <a:r>
            <a:rPr lang="ko-KR" altLang="en-US" dirty="0"/>
            <a:t>를 사용하여 이를 상위의 </a:t>
          </a:r>
          <a:r>
            <a:rPr lang="ko-KR" altLang="en-US" dirty="0" err="1"/>
            <a:t>메소드로</a:t>
          </a:r>
          <a:r>
            <a:rPr lang="ko-KR" altLang="en-US" dirty="0"/>
            <a:t> 투척한다</a:t>
          </a:r>
          <a:r>
            <a:rPr lang="en-US" altLang="ko-KR" dirty="0"/>
            <a:t>.</a:t>
          </a:r>
          <a:endParaRPr lang="ko-KR" altLang="en-US" dirty="0"/>
        </a:p>
      </dgm:t>
    </dgm:pt>
    <dgm:pt modelId="{10B23719-EB11-4A72-B999-5261A193D62B}" type="parTrans" cxnId="{78FC56E7-C489-47E4-88D3-4474D4C9B850}">
      <dgm:prSet/>
      <dgm:spPr/>
    </dgm:pt>
    <dgm:pt modelId="{371D6592-0213-4F20-B0B5-C16F0708A1A8}" type="sibTrans" cxnId="{78FC56E7-C489-47E4-88D3-4474D4C9B850}">
      <dgm:prSet/>
      <dgm:spPr/>
    </dgm:pt>
    <dgm:pt modelId="{4CC68038-1BDA-4EA5-9CD4-7EDB51AE041F}">
      <dgm:prSet phldrT="[텍스트]"/>
      <dgm:spPr/>
      <dgm:t>
        <a:bodyPr/>
        <a:lstStyle/>
        <a:p>
          <a:pPr latinLnBrk="1"/>
          <a:r>
            <a:rPr lang="en-US" altLang="ko-KR" dirty="0"/>
            <a:t>try-catch </a:t>
          </a:r>
          <a:r>
            <a:rPr lang="ko-KR" altLang="en-US" dirty="0"/>
            <a:t>구문을 활용하여 </a:t>
          </a:r>
          <a:r>
            <a:rPr lang="en-US" altLang="ko-KR" dirty="0"/>
            <a:t>try block </a:t>
          </a:r>
          <a:r>
            <a:rPr lang="ko-KR" altLang="en-US" dirty="0"/>
            <a:t>내부의 예외를 처리한다</a:t>
          </a:r>
          <a:r>
            <a:rPr lang="en-US" altLang="ko-KR" dirty="0"/>
            <a:t>.</a:t>
          </a:r>
          <a:endParaRPr lang="ko-KR" altLang="en-US" dirty="0"/>
        </a:p>
      </dgm:t>
    </dgm:pt>
    <dgm:pt modelId="{88773391-FF08-4419-B062-F7BB54E060CE}" type="parTrans" cxnId="{0C88C9AE-C11D-462C-8D94-E2199FA4FFA2}">
      <dgm:prSet/>
      <dgm:spPr/>
    </dgm:pt>
    <dgm:pt modelId="{3079C559-578A-4A07-8F5D-109CA68E50A2}" type="sibTrans" cxnId="{0C88C9AE-C11D-462C-8D94-E2199FA4FFA2}">
      <dgm:prSet/>
      <dgm:spPr/>
    </dgm:pt>
    <dgm:pt modelId="{CD7559D4-C29D-417E-9646-250A807DAAB9}" type="pres">
      <dgm:prSet presAssocID="{A9941E47-B107-43F4-8F6B-91021236D5BE}" presName="Name0" presStyleCnt="0">
        <dgm:presLayoutVars>
          <dgm:dir/>
          <dgm:animLvl val="lvl"/>
          <dgm:resizeHandles val="exact"/>
        </dgm:presLayoutVars>
      </dgm:prSet>
      <dgm:spPr/>
    </dgm:pt>
    <dgm:pt modelId="{C17464CE-97F3-4A66-8A42-B01BAF37512B}" type="pres">
      <dgm:prSet presAssocID="{78D2953B-62B6-45E2-9B70-A89138DEF160}" presName="composite" presStyleCnt="0"/>
      <dgm:spPr/>
    </dgm:pt>
    <dgm:pt modelId="{63E14CDA-4724-469E-87A1-0F28DC43A6B9}" type="pres">
      <dgm:prSet presAssocID="{78D2953B-62B6-45E2-9B70-A89138DEF160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C3DC3A7-DA16-41AF-895A-AFBB56D144F8}" type="pres">
      <dgm:prSet presAssocID="{78D2953B-62B6-45E2-9B70-A89138DEF160}" presName="desTx" presStyleLbl="revTx" presStyleIdx="0" presStyleCnt="3">
        <dgm:presLayoutVars>
          <dgm:bulletEnabled val="1"/>
        </dgm:presLayoutVars>
      </dgm:prSet>
      <dgm:spPr/>
    </dgm:pt>
    <dgm:pt modelId="{77A28E59-58CF-4E47-ACE3-2B25F89372F6}" type="pres">
      <dgm:prSet presAssocID="{CDF68518-ED53-4B12-951A-0AB66BA4FDBC}" presName="space" presStyleCnt="0"/>
      <dgm:spPr/>
    </dgm:pt>
    <dgm:pt modelId="{4CA63FE5-7119-46F1-A991-FEA364D80C3E}" type="pres">
      <dgm:prSet presAssocID="{D4685E7B-0153-424D-819D-388AFD6FDE85}" presName="composite" presStyleCnt="0"/>
      <dgm:spPr/>
    </dgm:pt>
    <dgm:pt modelId="{8C49DD73-0E9D-4F98-81EB-E09418AD9A5E}" type="pres">
      <dgm:prSet presAssocID="{D4685E7B-0153-424D-819D-388AFD6FDE85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07BB6BA-DECD-4623-9A0C-8177FC68A42C}" type="pres">
      <dgm:prSet presAssocID="{D4685E7B-0153-424D-819D-388AFD6FDE85}" presName="desTx" presStyleLbl="revTx" presStyleIdx="1" presStyleCnt="3">
        <dgm:presLayoutVars>
          <dgm:bulletEnabled val="1"/>
        </dgm:presLayoutVars>
      </dgm:prSet>
      <dgm:spPr/>
    </dgm:pt>
    <dgm:pt modelId="{CD10B891-C8EF-4635-8D25-B43BABA5760A}" type="pres">
      <dgm:prSet presAssocID="{C297CFCC-8E43-4B7B-B1EE-A5D0323EB54A}" presName="space" presStyleCnt="0"/>
      <dgm:spPr/>
    </dgm:pt>
    <dgm:pt modelId="{CF3CAAE1-D700-4836-9B47-21C387B734E4}" type="pres">
      <dgm:prSet presAssocID="{0127A9F5-852D-459C-93C5-0DB299C26617}" presName="composite" presStyleCnt="0"/>
      <dgm:spPr/>
    </dgm:pt>
    <dgm:pt modelId="{5FFC8F76-44A2-40E2-9E12-D43D950CB5BC}" type="pres">
      <dgm:prSet presAssocID="{0127A9F5-852D-459C-93C5-0DB299C26617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60975567-BAE9-40A0-A617-3EDA9051F9BC}" type="pres">
      <dgm:prSet presAssocID="{0127A9F5-852D-459C-93C5-0DB299C26617}" presName="desTx" presStyleLbl="revTx" presStyleIdx="2" presStyleCnt="3">
        <dgm:presLayoutVars>
          <dgm:bulletEnabled val="1"/>
        </dgm:presLayoutVars>
      </dgm:prSet>
      <dgm:spPr/>
    </dgm:pt>
  </dgm:ptLst>
  <dgm:cxnLst>
    <dgm:cxn modelId="{ED35C966-B984-4273-A6B9-62665B7137FC}" srcId="{A9941E47-B107-43F4-8F6B-91021236D5BE}" destId="{D4685E7B-0153-424D-819D-388AFD6FDE85}" srcOrd="1" destOrd="0" parTransId="{7B02ED62-EF76-42B9-A18F-C637B32C775F}" sibTransId="{C297CFCC-8E43-4B7B-B1EE-A5D0323EB54A}"/>
    <dgm:cxn modelId="{78FC56E7-C489-47E4-88D3-4474D4C9B850}" srcId="{D4685E7B-0153-424D-819D-388AFD6FDE85}" destId="{41978479-B352-4CA6-B483-ADC9A3EB8CA9}" srcOrd="0" destOrd="0" parTransId="{10B23719-EB11-4A72-B999-5261A193D62B}" sibTransId="{371D6592-0213-4F20-B0B5-C16F0708A1A8}"/>
    <dgm:cxn modelId="{CB0C0534-417C-4CDB-A23E-391C4D66353C}" srcId="{A9941E47-B107-43F4-8F6B-91021236D5BE}" destId="{78D2953B-62B6-45E2-9B70-A89138DEF160}" srcOrd="0" destOrd="0" parTransId="{1B561804-A804-47B6-B923-76E8CCBE10E7}" sibTransId="{CDF68518-ED53-4B12-951A-0AB66BA4FDBC}"/>
    <dgm:cxn modelId="{68ACAB16-39D1-4CB1-8CEB-345CE60FE25D}" type="presOf" srcId="{0127A9F5-852D-459C-93C5-0DB299C26617}" destId="{5FFC8F76-44A2-40E2-9E12-D43D950CB5BC}" srcOrd="0" destOrd="0" presId="urn:microsoft.com/office/officeart/2005/8/layout/chevron1"/>
    <dgm:cxn modelId="{FEA15C08-153D-4D2D-9742-E6BE50CF8392}" type="presOf" srcId="{41978479-B352-4CA6-B483-ADC9A3EB8CA9}" destId="{407BB6BA-DECD-4623-9A0C-8177FC68A42C}" srcOrd="0" destOrd="0" presId="urn:microsoft.com/office/officeart/2005/8/layout/chevron1"/>
    <dgm:cxn modelId="{49D14A6E-A908-481E-A506-F1D932BC2880}" type="presOf" srcId="{A9941E47-B107-43F4-8F6B-91021236D5BE}" destId="{CD7559D4-C29D-417E-9646-250A807DAAB9}" srcOrd="0" destOrd="0" presId="urn:microsoft.com/office/officeart/2005/8/layout/chevron1"/>
    <dgm:cxn modelId="{AC3BC41C-AFA2-4E36-882F-6120A9F58C15}" type="presOf" srcId="{D4685E7B-0153-424D-819D-388AFD6FDE85}" destId="{8C49DD73-0E9D-4F98-81EB-E09418AD9A5E}" srcOrd="0" destOrd="0" presId="urn:microsoft.com/office/officeart/2005/8/layout/chevron1"/>
    <dgm:cxn modelId="{B5CE7873-C131-49AC-9384-9E65C538B43A}" type="presOf" srcId="{78D2953B-62B6-45E2-9B70-A89138DEF160}" destId="{63E14CDA-4724-469E-87A1-0F28DC43A6B9}" srcOrd="0" destOrd="0" presId="urn:microsoft.com/office/officeart/2005/8/layout/chevron1"/>
    <dgm:cxn modelId="{23FA4B56-450E-4A14-9375-07E0E81D2299}" srcId="{78D2953B-62B6-45E2-9B70-A89138DEF160}" destId="{1EA1CED4-9D6C-474C-9F02-A9505373A3E0}" srcOrd="0" destOrd="0" parTransId="{151981F5-9472-4244-98D9-F1A718FF2C01}" sibTransId="{A1660FE7-A847-41D8-A112-AD936FF742D1}"/>
    <dgm:cxn modelId="{D2ACC7AE-FA05-4087-AF7F-89C19619803C}" type="presOf" srcId="{4CC68038-1BDA-4EA5-9CD4-7EDB51AE041F}" destId="{60975567-BAE9-40A0-A617-3EDA9051F9BC}" srcOrd="0" destOrd="0" presId="urn:microsoft.com/office/officeart/2005/8/layout/chevron1"/>
    <dgm:cxn modelId="{0C53C82B-0AA8-46C5-918F-21DFCA1ED3AC}" srcId="{A9941E47-B107-43F4-8F6B-91021236D5BE}" destId="{0127A9F5-852D-459C-93C5-0DB299C26617}" srcOrd="2" destOrd="0" parTransId="{BA8B5E55-CC91-4625-8F70-3B771A9D9BDF}" sibTransId="{5D5A2EF8-730C-4704-B2B4-8A32F6A9B31F}"/>
    <dgm:cxn modelId="{0C88C9AE-C11D-462C-8D94-E2199FA4FFA2}" srcId="{0127A9F5-852D-459C-93C5-0DB299C26617}" destId="{4CC68038-1BDA-4EA5-9CD4-7EDB51AE041F}" srcOrd="0" destOrd="0" parTransId="{88773391-FF08-4419-B062-F7BB54E060CE}" sibTransId="{3079C559-578A-4A07-8F5D-109CA68E50A2}"/>
    <dgm:cxn modelId="{562723E8-F065-4A3E-AD34-4915C3EF2B8E}" type="presOf" srcId="{1EA1CED4-9D6C-474C-9F02-A9505373A3E0}" destId="{DC3DC3A7-DA16-41AF-895A-AFBB56D144F8}" srcOrd="0" destOrd="0" presId="urn:microsoft.com/office/officeart/2005/8/layout/chevron1"/>
    <dgm:cxn modelId="{CADDBE86-1C4C-4691-834F-B1ED5F8CC00C}" type="presParOf" srcId="{CD7559D4-C29D-417E-9646-250A807DAAB9}" destId="{C17464CE-97F3-4A66-8A42-B01BAF37512B}" srcOrd="0" destOrd="0" presId="urn:microsoft.com/office/officeart/2005/8/layout/chevron1"/>
    <dgm:cxn modelId="{4DD1B646-7654-4995-AFBD-DD6B4C041426}" type="presParOf" srcId="{C17464CE-97F3-4A66-8A42-B01BAF37512B}" destId="{63E14CDA-4724-469E-87A1-0F28DC43A6B9}" srcOrd="0" destOrd="0" presId="urn:microsoft.com/office/officeart/2005/8/layout/chevron1"/>
    <dgm:cxn modelId="{F0ABCD4B-2D96-4D90-964A-975E76EC63CC}" type="presParOf" srcId="{C17464CE-97F3-4A66-8A42-B01BAF37512B}" destId="{DC3DC3A7-DA16-41AF-895A-AFBB56D144F8}" srcOrd="1" destOrd="0" presId="urn:microsoft.com/office/officeart/2005/8/layout/chevron1"/>
    <dgm:cxn modelId="{ADB69527-D5D9-4C7E-BA9D-9DF43499B299}" type="presParOf" srcId="{CD7559D4-C29D-417E-9646-250A807DAAB9}" destId="{77A28E59-58CF-4E47-ACE3-2B25F89372F6}" srcOrd="1" destOrd="0" presId="urn:microsoft.com/office/officeart/2005/8/layout/chevron1"/>
    <dgm:cxn modelId="{476672D1-20EF-4430-BF2F-DAC924AEC9E2}" type="presParOf" srcId="{CD7559D4-C29D-417E-9646-250A807DAAB9}" destId="{4CA63FE5-7119-46F1-A991-FEA364D80C3E}" srcOrd="2" destOrd="0" presId="urn:microsoft.com/office/officeart/2005/8/layout/chevron1"/>
    <dgm:cxn modelId="{8345288E-06AF-4D4C-8022-0B67B0727EB3}" type="presParOf" srcId="{4CA63FE5-7119-46F1-A991-FEA364D80C3E}" destId="{8C49DD73-0E9D-4F98-81EB-E09418AD9A5E}" srcOrd="0" destOrd="0" presId="urn:microsoft.com/office/officeart/2005/8/layout/chevron1"/>
    <dgm:cxn modelId="{9A40285E-46D0-441E-87B0-17E9494CFE0F}" type="presParOf" srcId="{4CA63FE5-7119-46F1-A991-FEA364D80C3E}" destId="{407BB6BA-DECD-4623-9A0C-8177FC68A42C}" srcOrd="1" destOrd="0" presId="urn:microsoft.com/office/officeart/2005/8/layout/chevron1"/>
    <dgm:cxn modelId="{E1C6F346-C5C6-41ED-949A-E16485097DAA}" type="presParOf" srcId="{CD7559D4-C29D-417E-9646-250A807DAAB9}" destId="{CD10B891-C8EF-4635-8D25-B43BABA5760A}" srcOrd="3" destOrd="0" presId="urn:microsoft.com/office/officeart/2005/8/layout/chevron1"/>
    <dgm:cxn modelId="{C3BA4158-33C2-40D8-89AE-4E3C4EF69934}" type="presParOf" srcId="{CD7559D4-C29D-417E-9646-250A807DAAB9}" destId="{CF3CAAE1-D700-4836-9B47-21C387B734E4}" srcOrd="4" destOrd="0" presId="urn:microsoft.com/office/officeart/2005/8/layout/chevron1"/>
    <dgm:cxn modelId="{BFB66B0A-A8B7-4A65-ADCB-2F3D2411BA2D}" type="presParOf" srcId="{CF3CAAE1-D700-4836-9B47-21C387B734E4}" destId="{5FFC8F76-44A2-40E2-9E12-D43D950CB5BC}" srcOrd="0" destOrd="0" presId="urn:microsoft.com/office/officeart/2005/8/layout/chevron1"/>
    <dgm:cxn modelId="{8140F8DF-097D-4CA3-984C-421826966717}" type="presParOf" srcId="{CF3CAAE1-D700-4836-9B47-21C387B734E4}" destId="{60975567-BAE9-40A0-A617-3EDA9051F9BC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14CDA-4724-469E-87A1-0F28DC43A6B9}">
      <dsp:nvSpPr>
        <dsp:cNvPr id="0" name=""/>
        <dsp:cNvSpPr/>
      </dsp:nvSpPr>
      <dsp:spPr>
        <a:xfrm>
          <a:off x="46" y="42612"/>
          <a:ext cx="3384056" cy="1350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/>
            <a:t>예외 발생</a:t>
          </a:r>
        </a:p>
      </dsp:txBody>
      <dsp:txXfrm>
        <a:off x="675046" y="42612"/>
        <a:ext cx="2034056" cy="1350000"/>
      </dsp:txXfrm>
    </dsp:sp>
    <dsp:sp modelId="{DC3DC3A7-DA16-41AF-895A-AFBB56D144F8}">
      <dsp:nvSpPr>
        <dsp:cNvPr id="0" name=""/>
        <dsp:cNvSpPr/>
      </dsp:nvSpPr>
      <dsp:spPr>
        <a:xfrm>
          <a:off x="46" y="1561362"/>
          <a:ext cx="2707244" cy="24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/>
            <a:t>코드의 진행 중에 무엇인가가 잘못된 경우 예외 객체를 생성하고 </a:t>
          </a:r>
          <a:r>
            <a:rPr lang="en-US" altLang="ko-KR" sz="2500" kern="1200" dirty="0"/>
            <a:t>throw</a:t>
          </a:r>
          <a:r>
            <a:rPr lang="ko-KR" altLang="en-US" sz="2500" kern="1200" dirty="0"/>
            <a:t>를 사용하여 알린다</a:t>
          </a:r>
          <a:r>
            <a:rPr lang="en-US" altLang="ko-KR" sz="2500" kern="1200" dirty="0"/>
            <a:t>.</a:t>
          </a:r>
          <a:endParaRPr lang="ko-KR" altLang="en-US" sz="2500" kern="1200" dirty="0"/>
        </a:p>
      </dsp:txBody>
      <dsp:txXfrm>
        <a:off x="46" y="1561362"/>
        <a:ext cx="2707244" cy="2418750"/>
      </dsp:txXfrm>
    </dsp:sp>
    <dsp:sp modelId="{8C49DD73-0E9D-4F98-81EB-E09418AD9A5E}">
      <dsp:nvSpPr>
        <dsp:cNvPr id="0" name=""/>
        <dsp:cNvSpPr/>
      </dsp:nvSpPr>
      <dsp:spPr>
        <a:xfrm>
          <a:off x="3168102" y="42612"/>
          <a:ext cx="3384056" cy="1350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/>
            <a:t>예외 투척</a:t>
          </a:r>
        </a:p>
      </dsp:txBody>
      <dsp:txXfrm>
        <a:off x="3843102" y="42612"/>
        <a:ext cx="2034056" cy="1350000"/>
      </dsp:txXfrm>
    </dsp:sp>
    <dsp:sp modelId="{407BB6BA-DECD-4623-9A0C-8177FC68A42C}">
      <dsp:nvSpPr>
        <dsp:cNvPr id="0" name=""/>
        <dsp:cNvSpPr/>
      </dsp:nvSpPr>
      <dsp:spPr>
        <a:xfrm>
          <a:off x="3168102" y="1561362"/>
          <a:ext cx="2707244" cy="24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/>
            <a:t>발생한 예외가 해당 </a:t>
          </a:r>
          <a:r>
            <a:rPr lang="ko-KR" altLang="en-US" sz="2500" kern="1200" dirty="0" err="1"/>
            <a:t>메소드에서</a:t>
          </a:r>
          <a:r>
            <a:rPr lang="ko-KR" altLang="en-US" sz="2500" kern="1200" dirty="0"/>
            <a:t> 해결할 수 없을 때</a:t>
          </a:r>
          <a:r>
            <a:rPr lang="en-US" altLang="ko-KR" sz="2500" kern="1200" dirty="0"/>
            <a:t>, throws</a:t>
          </a:r>
          <a:r>
            <a:rPr lang="ko-KR" altLang="en-US" sz="2500" kern="1200" dirty="0"/>
            <a:t>를 사용하여 이를 상위의 </a:t>
          </a:r>
          <a:r>
            <a:rPr lang="ko-KR" altLang="en-US" sz="2500" kern="1200" dirty="0" err="1"/>
            <a:t>메소드로</a:t>
          </a:r>
          <a:r>
            <a:rPr lang="ko-KR" altLang="en-US" sz="2500" kern="1200" dirty="0"/>
            <a:t> 투척한다</a:t>
          </a:r>
          <a:r>
            <a:rPr lang="en-US" altLang="ko-KR" sz="2500" kern="1200" dirty="0"/>
            <a:t>.</a:t>
          </a:r>
          <a:endParaRPr lang="ko-KR" altLang="en-US" sz="2500" kern="1200" dirty="0"/>
        </a:p>
      </dsp:txBody>
      <dsp:txXfrm>
        <a:off x="3168102" y="1561362"/>
        <a:ext cx="2707244" cy="2418750"/>
      </dsp:txXfrm>
    </dsp:sp>
    <dsp:sp modelId="{5FFC8F76-44A2-40E2-9E12-D43D950CB5BC}">
      <dsp:nvSpPr>
        <dsp:cNvPr id="0" name=""/>
        <dsp:cNvSpPr/>
      </dsp:nvSpPr>
      <dsp:spPr>
        <a:xfrm>
          <a:off x="6336159" y="42612"/>
          <a:ext cx="3384056" cy="1350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/>
            <a:t>예외 처리</a:t>
          </a:r>
        </a:p>
      </dsp:txBody>
      <dsp:txXfrm>
        <a:off x="7011159" y="42612"/>
        <a:ext cx="2034056" cy="1350000"/>
      </dsp:txXfrm>
    </dsp:sp>
    <dsp:sp modelId="{60975567-BAE9-40A0-A617-3EDA9051F9BC}">
      <dsp:nvSpPr>
        <dsp:cNvPr id="0" name=""/>
        <dsp:cNvSpPr/>
      </dsp:nvSpPr>
      <dsp:spPr>
        <a:xfrm>
          <a:off x="6336159" y="1561362"/>
          <a:ext cx="2707244" cy="241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2500" kern="1200" dirty="0"/>
            <a:t>try-catch </a:t>
          </a:r>
          <a:r>
            <a:rPr lang="ko-KR" altLang="en-US" sz="2500" kern="1200" dirty="0"/>
            <a:t>구문을 활용하여 </a:t>
          </a:r>
          <a:r>
            <a:rPr lang="en-US" altLang="ko-KR" sz="2500" kern="1200" dirty="0"/>
            <a:t>try block </a:t>
          </a:r>
          <a:r>
            <a:rPr lang="ko-KR" altLang="en-US" sz="2500" kern="1200" dirty="0"/>
            <a:t>내부의 예외를 처리한다</a:t>
          </a:r>
          <a:r>
            <a:rPr lang="en-US" altLang="ko-KR" sz="2500" kern="1200" dirty="0"/>
            <a:t>.</a:t>
          </a:r>
          <a:endParaRPr lang="ko-KR" altLang="en-US" sz="2500" kern="1200" dirty="0"/>
        </a:p>
      </dsp:txBody>
      <dsp:txXfrm>
        <a:off x="6336159" y="1561362"/>
        <a:ext cx="2707244" cy="2418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8/14/2016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8/14/2016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8/14/2016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5000" kern="1200" cap="sm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Exception Handling &amp;</a:t>
            </a:r>
            <a:br>
              <a:rPr lang="en-US" altLang="ko-KR" dirty="0"/>
            </a:br>
            <a:r>
              <a:rPr lang="en-US" altLang="ko-KR" dirty="0"/>
              <a:t>Parameter Passing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en-US" altLang="ko-KR" dirty="0" err="1"/>
              <a:t>Tutoral</a:t>
            </a:r>
            <a:r>
              <a:rPr lang="en-US" altLang="ko-KR" dirty="0"/>
              <a:t> #3</a:t>
            </a:r>
          </a:p>
          <a:p>
            <a:r>
              <a:rPr lang="ko-KR" altLang="en-US" dirty="0"/>
              <a:t>신용호</a:t>
            </a:r>
            <a:endParaRPr lang="en-US" altLang="ko-KR" dirty="0"/>
          </a:p>
          <a:p>
            <a:r>
              <a:rPr lang="ko-KR" altLang="en-US" dirty="0"/>
              <a:t>컴퓨터과학과 </a:t>
            </a:r>
            <a:r>
              <a:rPr lang="en-US" altLang="ko-KR" dirty="0"/>
              <a:t>12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44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Exception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Parameter Passing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Q &amp; A</a:t>
            </a:r>
          </a:p>
          <a:p>
            <a:pPr marL="457200" indent="-457200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6139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Exception Handling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Exception</a:t>
            </a:r>
          </a:p>
          <a:p>
            <a:r>
              <a:rPr lang="en-US" altLang="ko-KR" dirty="0"/>
              <a:t>Exception Throwing</a:t>
            </a:r>
          </a:p>
          <a:p>
            <a:r>
              <a:rPr lang="en-US" altLang="ko-KR" dirty="0"/>
              <a:t>Exception Catching</a:t>
            </a:r>
          </a:p>
        </p:txBody>
      </p:sp>
    </p:spTree>
    <p:extLst>
      <p:ext uri="{BB962C8B-B14F-4D97-AF65-F5344CB8AC3E}">
        <p14:creationId xmlns:p14="http://schemas.microsoft.com/office/powerpoint/2010/main" val="2477179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의 </a:t>
            </a:r>
            <a:r>
              <a:rPr lang="en-US" altLang="ko-KR" dirty="0"/>
              <a:t>Exception Handling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Java</a:t>
            </a:r>
            <a:r>
              <a:rPr lang="ko-KR" altLang="en-US" dirty="0"/>
              <a:t>는 </a:t>
            </a:r>
            <a:r>
              <a:rPr lang="en-US" altLang="ko-KR" dirty="0"/>
              <a:t>Exception</a:t>
            </a:r>
            <a:r>
              <a:rPr lang="ko-KR" altLang="en-US" dirty="0"/>
              <a:t>에 매우 민감합니다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Exception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처리하지 않으면 </a:t>
            </a:r>
            <a:r>
              <a:rPr lang="en-US" altLang="ko-KR" dirty="0"/>
              <a:t>Compile Error</a:t>
            </a:r>
            <a:r>
              <a:rPr lang="ko-KR" altLang="en-US" dirty="0"/>
              <a:t>를 때려버리죠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이는 </a:t>
            </a:r>
            <a:r>
              <a:rPr lang="en-US" altLang="ko-KR" dirty="0"/>
              <a:t>Exception, Error </a:t>
            </a:r>
            <a:r>
              <a:rPr lang="ko-KR" altLang="en-US" dirty="0"/>
              <a:t>등에 너그러운 </a:t>
            </a:r>
            <a:r>
              <a:rPr lang="en-US" altLang="ko-KR" dirty="0"/>
              <a:t>C/C++</a:t>
            </a:r>
            <a:r>
              <a:rPr lang="ko-KR" altLang="en-US" dirty="0"/>
              <a:t>과 비교되는 </a:t>
            </a:r>
            <a:r>
              <a:rPr lang="en-US" altLang="ko-KR" dirty="0"/>
              <a:t>Java</a:t>
            </a:r>
            <a:r>
              <a:rPr lang="ko-KR" altLang="en-US" dirty="0"/>
              <a:t>의 특징 중 하나입니다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그래서 코딩을 할 때 많이 번거로울 수 있답니다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하지만 적절한 </a:t>
            </a:r>
            <a:r>
              <a:rPr lang="en-US" altLang="ko-KR" dirty="0"/>
              <a:t>Exception Handling</a:t>
            </a:r>
            <a:r>
              <a:rPr lang="ko-KR" altLang="en-US" dirty="0"/>
              <a:t>은 프로그램의 안정성을 높이는 데 도움이 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26" name="Picture 2" descr="https://thumbs.dreamstime.com/z/no-sign-hand-isolated-white-background-3487449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19"/>
          <a:stretch/>
        </p:blipFill>
        <p:spPr bwMode="auto">
          <a:xfrm>
            <a:off x="9321872" y="2084832"/>
            <a:ext cx="2203377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253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Exception Handling</a:t>
            </a:r>
            <a:r>
              <a:rPr lang="ko-KR" altLang="en-US" dirty="0"/>
              <a:t>의 순서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196507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717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이번엔 삼각형입니다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24128" y="1917192"/>
            <a:ext cx="5957697" cy="4665814"/>
          </a:xfrm>
          <a:prstGeom prst="rect">
            <a:avLst/>
          </a:prstGeom>
        </p:spPr>
      </p:pic>
      <p:sp>
        <p:nvSpPr>
          <p:cNvPr id="5" name="내용 개체 틀 4"/>
          <p:cNvSpPr>
            <a:spLocks noGrp="1"/>
          </p:cNvSpPr>
          <p:nvPr>
            <p:ph sz="half" idx="2"/>
          </p:nvPr>
        </p:nvSpPr>
        <p:spPr>
          <a:xfrm>
            <a:off x="4991100" y="2084832"/>
            <a:ext cx="5753100" cy="3573018"/>
          </a:xfrm>
        </p:spPr>
        <p:txBody>
          <a:bodyPr/>
          <a:lstStyle/>
          <a:p>
            <a:r>
              <a:rPr lang="en-US" altLang="ko-KR" dirty="0"/>
              <a:t>Point</a:t>
            </a:r>
            <a:r>
              <a:rPr lang="ko-KR" altLang="en-US" dirty="0"/>
              <a:t>는 저번에 구현한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삼각형은 </a:t>
            </a:r>
            <a:r>
              <a:rPr lang="en-US" altLang="ko-KR" dirty="0"/>
              <a:t>Point</a:t>
            </a:r>
            <a:r>
              <a:rPr lang="ko-KR" altLang="en-US" dirty="0"/>
              <a:t>를 </a:t>
            </a:r>
            <a:r>
              <a:rPr lang="en-US" altLang="ko-KR" dirty="0"/>
              <a:t>Set</a:t>
            </a:r>
            <a:r>
              <a:rPr lang="ko-KR" altLang="en-US" dirty="0"/>
              <a:t>으로 가지고 있으며 </a:t>
            </a:r>
            <a:r>
              <a:rPr lang="en-US" altLang="ko-KR" dirty="0"/>
              <a:t>Set</a:t>
            </a:r>
            <a:r>
              <a:rPr lang="ko-KR" altLang="en-US" dirty="0"/>
              <a:t>의 정점으로 이루어진 삼각형의 넓이를 구하는 </a:t>
            </a:r>
            <a:r>
              <a:rPr lang="ko-KR" altLang="en-US" dirty="0" err="1"/>
              <a:t>메소드를</a:t>
            </a:r>
            <a:r>
              <a:rPr lang="ko-KR" altLang="en-US" dirty="0"/>
              <a:t> 갖고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얼핏 보아도 뭔가 문제가 많아 보이지요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일단은 잘 돌아가는 지 확인해 봅시다</a:t>
            </a:r>
            <a:r>
              <a:rPr lang="en-US" altLang="ko-KR" dirty="0"/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71" b="92500" l="10000" r="92266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10397" y="4678724"/>
            <a:ext cx="17907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94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직각삼각형의 넓이를 구하자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(0, 0), (4, 0), (4, 3)</a:t>
            </a:r>
            <a:r>
              <a:rPr lang="ko-KR" altLang="en-US" dirty="0"/>
              <a:t>으로 이루어진 삼각형의 넓이는 어떻게 될까요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당연히 </a:t>
            </a:r>
            <a:r>
              <a:rPr lang="en-US" altLang="ko-KR" dirty="0"/>
              <a:t>6</a:t>
            </a:r>
            <a:r>
              <a:rPr lang="ko-KR" altLang="en-US" dirty="0"/>
              <a:t>이 되겠지요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우리의 코드도 당연히 답을 맞추는 지 볼까요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0" name="내용 개체 틀 9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2853" r="39667"/>
          <a:stretch/>
        </p:blipFill>
        <p:spPr>
          <a:xfrm>
            <a:off x="6152506" y="2286000"/>
            <a:ext cx="4591694" cy="2381250"/>
          </a:xfrm>
          <a:prstGeom prst="rect">
            <a:avLst/>
          </a:prstGeom>
        </p:spPr>
      </p:pic>
      <p:pic>
        <p:nvPicPr>
          <p:cNvPr id="2050" name="Picture 2" descr="http://www.mathwarehouse.com/geometry/triangles/area/images/area-of-triangle-ico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3"/>
          <a:stretch/>
        </p:blipFill>
        <p:spPr bwMode="auto">
          <a:xfrm>
            <a:off x="2215705" y="4615052"/>
            <a:ext cx="2371725" cy="169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52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잠깐</a:t>
            </a:r>
            <a:r>
              <a:rPr lang="en-US" altLang="ko-KR" dirty="0"/>
              <a:t>! </a:t>
            </a:r>
            <a:r>
              <a:rPr lang="ko-KR" altLang="en-US" dirty="0" err="1"/>
              <a:t>만약에요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만약 </a:t>
            </a:r>
            <a:r>
              <a:rPr lang="en-US" altLang="ko-KR" dirty="0"/>
              <a:t>Set</a:t>
            </a:r>
            <a:r>
              <a:rPr lang="ko-KR" altLang="en-US" dirty="0"/>
              <a:t>의 정점의 수가 </a:t>
            </a:r>
            <a:r>
              <a:rPr lang="en-US" altLang="ko-KR" dirty="0"/>
              <a:t>3</a:t>
            </a:r>
            <a:r>
              <a:rPr lang="ko-KR" altLang="en-US" dirty="0"/>
              <a:t>개가 아니라면 어떻게 될까요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만약 </a:t>
            </a:r>
            <a:r>
              <a:rPr lang="en-US" altLang="ko-KR" dirty="0"/>
              <a:t>4</a:t>
            </a:r>
            <a:r>
              <a:rPr lang="ko-KR" altLang="en-US" dirty="0"/>
              <a:t>개 이상이라면 코드는 돌아가겠지만 믿음직스럽지 않겠군요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만약 </a:t>
            </a:r>
            <a:r>
              <a:rPr lang="en-US" altLang="ko-KR" dirty="0"/>
              <a:t>1</a:t>
            </a:r>
            <a:r>
              <a:rPr lang="ko-KR" altLang="en-US" dirty="0"/>
              <a:t>개나 </a:t>
            </a:r>
            <a:r>
              <a:rPr lang="en-US" altLang="ko-KR" dirty="0"/>
              <a:t>2</a:t>
            </a:r>
            <a:r>
              <a:rPr lang="ko-KR" altLang="en-US" dirty="0"/>
              <a:t>개라면</a:t>
            </a:r>
            <a:r>
              <a:rPr lang="en-US" altLang="ko-KR" dirty="0"/>
              <a:t>? </a:t>
            </a:r>
            <a:r>
              <a:rPr lang="ko-KR" altLang="en-US" dirty="0"/>
              <a:t>아마 런타임 에러가 날 것만 같군요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우리의 코드는 이러한 돌발 상황에 대처하지 못합니다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이런 문제를 대표하는 예외를 만들고 이런 상황을 잡아봅시다</a:t>
            </a:r>
            <a:r>
              <a:rPr lang="en-US" altLang="ko-KR" dirty="0"/>
              <a:t>!</a:t>
            </a:r>
          </a:p>
        </p:txBody>
      </p:sp>
      <p:sp>
        <p:nvSpPr>
          <p:cNvPr id="5" name="직사각형 4"/>
          <p:cNvSpPr/>
          <p:nvPr/>
        </p:nvSpPr>
        <p:spPr>
          <a:xfrm rot="1085595">
            <a:off x="8534400" y="208483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정오각형 5"/>
          <p:cNvSpPr/>
          <p:nvPr/>
        </p:nvSpPr>
        <p:spPr>
          <a:xfrm rot="20044646">
            <a:off x="9719749" y="3635727"/>
            <a:ext cx="960120" cy="914400"/>
          </a:xfrm>
          <a:prstGeom prst="pentag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육각형 6"/>
          <p:cNvSpPr/>
          <p:nvPr/>
        </p:nvSpPr>
        <p:spPr>
          <a:xfrm rot="19472509">
            <a:off x="9037830" y="5373258"/>
            <a:ext cx="1060704" cy="914400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119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개가 아니라니까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25976"/>
          <a:stretch/>
        </p:blipFill>
        <p:spPr>
          <a:xfrm>
            <a:off x="3376613" y="2084832"/>
            <a:ext cx="5858192" cy="887226"/>
          </a:xfrm>
          <a:prstGeom prst="rect">
            <a:avLst/>
          </a:prstGeom>
        </p:spPr>
      </p:pic>
      <p:sp>
        <p:nvSpPr>
          <p:cNvPr id="5" name="내용 개체 틀 4"/>
          <p:cNvSpPr>
            <a:spLocks noGrp="1"/>
          </p:cNvSpPr>
          <p:nvPr>
            <p:ph sz="half" idx="2"/>
          </p:nvPr>
        </p:nvSpPr>
        <p:spPr>
          <a:xfrm>
            <a:off x="1024128" y="3209924"/>
            <a:ext cx="9720072" cy="3099435"/>
          </a:xfrm>
        </p:spPr>
        <p:txBody>
          <a:bodyPr/>
          <a:lstStyle/>
          <a:p>
            <a:r>
              <a:rPr lang="ko-KR" altLang="en-US" dirty="0"/>
              <a:t>이러한 객체를 만들어 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객체는 정점이 </a:t>
            </a:r>
            <a:r>
              <a:rPr lang="en-US" altLang="ko-KR" dirty="0"/>
              <a:t>3</a:t>
            </a:r>
            <a:r>
              <a:rPr lang="ko-KR" altLang="en-US" dirty="0"/>
              <a:t>개가 아닌 상황을 대표하는 예외 객체입니다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Exception </a:t>
            </a:r>
            <a:r>
              <a:rPr lang="ko-KR" altLang="en-US" dirty="0"/>
              <a:t>객체를 상속하면 자신이 정의한 예외 상황을 표현하는 객체를 만들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참고로 </a:t>
            </a:r>
            <a:r>
              <a:rPr lang="en-US" altLang="ko-KR" dirty="0" err="1"/>
              <a:t>printStackTrace</a:t>
            </a:r>
            <a:r>
              <a:rPr lang="en-US" altLang="ko-KR" dirty="0"/>
              <a:t> </a:t>
            </a:r>
            <a:r>
              <a:rPr lang="ko-KR" altLang="en-US" dirty="0"/>
              <a:t>함수는 </a:t>
            </a:r>
            <a:r>
              <a:rPr lang="en-US" altLang="ko-KR" dirty="0" err="1"/>
              <a:t>Throwable</a:t>
            </a:r>
            <a:r>
              <a:rPr lang="ko-KR" altLang="en-US" dirty="0"/>
              <a:t>이라는 인터페이스에 정의되어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9351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그렇다면 삼각형에는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삼각형을 생성할 때 </a:t>
            </a:r>
            <a:r>
              <a:rPr lang="en-US" altLang="ko-KR" dirty="0"/>
              <a:t>Set</a:t>
            </a:r>
            <a:r>
              <a:rPr lang="ko-KR" altLang="en-US" dirty="0"/>
              <a:t>에 담겨있는 </a:t>
            </a:r>
            <a:r>
              <a:rPr lang="en-US" altLang="ko-KR" dirty="0"/>
              <a:t>Point</a:t>
            </a:r>
            <a:r>
              <a:rPr lang="ko-KR" altLang="en-US" dirty="0"/>
              <a:t>의 개수가 </a:t>
            </a:r>
            <a:r>
              <a:rPr lang="en-US" altLang="ko-KR" dirty="0"/>
              <a:t>3</a:t>
            </a:r>
            <a:r>
              <a:rPr lang="ko-KR" altLang="en-US" dirty="0"/>
              <a:t>개인지 아닌지를 파악합시다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3</a:t>
            </a:r>
            <a:r>
              <a:rPr lang="ko-KR" altLang="en-US" dirty="0"/>
              <a:t>개가 아니다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그럼 과감히 예외 상황을 발생시키는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부분은 </a:t>
            </a:r>
            <a:r>
              <a:rPr lang="en-US" altLang="ko-KR" dirty="0"/>
              <a:t>throw</a:t>
            </a:r>
            <a:r>
              <a:rPr lang="ko-KR" altLang="en-US" dirty="0"/>
              <a:t>를 사용하여 할 수 있습니다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throws</a:t>
            </a:r>
            <a:r>
              <a:rPr lang="ko-KR" altLang="en-US" dirty="0"/>
              <a:t>를 활용하여 이것을 호출한 </a:t>
            </a:r>
            <a:r>
              <a:rPr lang="ko-KR" altLang="en-US" dirty="0" err="1"/>
              <a:t>메소드에게</a:t>
            </a:r>
            <a:r>
              <a:rPr lang="ko-KR" altLang="en-US" dirty="0"/>
              <a:t> 이 예외를 투척할 수 있게 됩니다</a:t>
            </a:r>
            <a:r>
              <a:rPr lang="en-US" altLang="ko-KR" dirty="0"/>
              <a:t>.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6043" r="18030"/>
          <a:stretch/>
        </p:blipFill>
        <p:spPr>
          <a:xfrm>
            <a:off x="5972175" y="3516629"/>
            <a:ext cx="5995360" cy="1238251"/>
          </a:xfrm>
          <a:prstGeom prst="rect">
            <a:avLst/>
          </a:prstGeom>
        </p:spPr>
      </p:pic>
      <p:pic>
        <p:nvPicPr>
          <p:cNvPr id="3074" name="Picture 2" descr="http://images.clipartpanda.com/throw-clipart-free-vector-water-balloon-throw-clip-art_106309_Water_Balloon_Throw_clip_art_high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5527" y="585216"/>
            <a:ext cx="2276026" cy="245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169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Eclipse</a:t>
            </a:r>
            <a:r>
              <a:rPr lang="ko-KR" altLang="en-US" dirty="0"/>
              <a:t>는 참 편리하죠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3122" r="38998"/>
          <a:stretch/>
        </p:blipFill>
        <p:spPr>
          <a:xfrm>
            <a:off x="1024128" y="2286000"/>
            <a:ext cx="4682267" cy="1533525"/>
          </a:xfrm>
          <a:prstGeom prst="rect">
            <a:avLst/>
          </a:prstGeom>
        </p:spPr>
      </p:pic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main </a:t>
            </a:r>
            <a:r>
              <a:rPr lang="ko-KR" altLang="en-US" dirty="0"/>
              <a:t>함수에서 빨간 줄이 표시된 것을 볼 수 있을 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빨간 줄에 대고 이번에는</a:t>
            </a:r>
            <a:br>
              <a:rPr lang="en-US" altLang="ko-KR" dirty="0"/>
            </a:br>
            <a:r>
              <a:rPr lang="en-US" altLang="ko-KR" dirty="0"/>
              <a:t>Surround with try/catch</a:t>
            </a:r>
            <a:r>
              <a:rPr lang="ko-KR" altLang="en-US" dirty="0"/>
              <a:t>를 눌러주세요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자동완성 기능으로 손쉽게 </a:t>
            </a:r>
            <a:r>
              <a:rPr lang="en-US" altLang="ko-KR" dirty="0"/>
              <a:t>try-catch</a:t>
            </a:r>
            <a:r>
              <a:rPr lang="ko-KR" altLang="en-US" dirty="0"/>
              <a:t>문을 만들 수 있답니다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자 이제 우리의 예외가 잘 작동하는 지 확인해 볼까요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96789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점이 이렇게 들어온다면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639" r="41940"/>
          <a:stretch/>
        </p:blipFill>
        <p:spPr>
          <a:xfrm>
            <a:off x="2237133" y="2785617"/>
            <a:ext cx="8049867" cy="162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음</a:t>
            </a:r>
            <a:r>
              <a:rPr lang="en-US" altLang="ko-KR" dirty="0"/>
              <a:t>… </a:t>
            </a:r>
            <a:r>
              <a:rPr lang="ko-KR" altLang="en-US" dirty="0"/>
              <a:t>이런 </a:t>
            </a:r>
            <a:r>
              <a:rPr lang="ko-KR" altLang="en-US" dirty="0" err="1"/>
              <a:t>경우는요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자 이제 서로 다른 세 개의 정점을 제외한 경우는 모두 예외 상황으로 처리할 수 있게 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그럼 이제 문제가 없을까요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서로 다른 세 개의 점으로는 분명 삼각형을 만들 수 있을 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 한 가지 경우만 </a:t>
            </a:r>
            <a:r>
              <a:rPr lang="ko-KR" altLang="en-US" dirty="0" err="1"/>
              <a:t>빼면요</a:t>
            </a:r>
            <a:r>
              <a:rPr lang="en-US" altLang="ko-KR" dirty="0"/>
              <a:t>. </a:t>
            </a:r>
            <a:r>
              <a:rPr lang="ko-KR" altLang="en-US" dirty="0"/>
              <a:t>바로 모든 정점이 한 직선 상에 위치할 때이죠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098" name="Picture 2" descr="http://images.tutorvista.com/cms/images/113/line1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143" y="3076576"/>
            <a:ext cx="4972255" cy="14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588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일직선이라니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6924"/>
          <a:stretch/>
        </p:blipFill>
        <p:spPr>
          <a:xfrm>
            <a:off x="1448806" y="2747690"/>
            <a:ext cx="8870716" cy="157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4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그리고 삼각형에도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24128" y="3925444"/>
            <a:ext cx="9720072" cy="2383916"/>
          </a:xfrm>
        </p:spPr>
        <p:txBody>
          <a:bodyPr/>
          <a:lstStyle/>
          <a:p>
            <a:r>
              <a:rPr lang="ko-KR" altLang="en-US" dirty="0"/>
              <a:t>삼각형의 </a:t>
            </a:r>
            <a:r>
              <a:rPr lang="ko-KR" altLang="en-US" dirty="0" err="1"/>
              <a:t>생성자에</a:t>
            </a:r>
            <a:r>
              <a:rPr lang="ko-KR" altLang="en-US" dirty="0"/>
              <a:t> 이렇게 코드를 작성해 봅시다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Iterator</a:t>
            </a:r>
            <a:r>
              <a:rPr lang="ko-KR" altLang="en-US" dirty="0"/>
              <a:t>가 뽑아내는 </a:t>
            </a:r>
            <a:r>
              <a:rPr lang="en-US" altLang="ko-KR" dirty="0"/>
              <a:t>Point</a:t>
            </a:r>
            <a:r>
              <a:rPr lang="ko-KR" altLang="en-US" dirty="0"/>
              <a:t>의 개수를 통해서 어디에 작성해야 할지는 눈에 딱 보이시죠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참 생성자의 </a:t>
            </a:r>
            <a:r>
              <a:rPr lang="en-US" altLang="ko-KR" dirty="0"/>
              <a:t>throws </a:t>
            </a:r>
            <a:r>
              <a:rPr lang="ko-KR" altLang="en-US" dirty="0"/>
              <a:t>옆에도 무엇인가 추가가 되어야 한다는 점을 있지 마세요</a:t>
            </a:r>
            <a:r>
              <a:rPr lang="en-US" altLang="ko-KR" dirty="0"/>
              <a:t>~</a:t>
            </a:r>
          </a:p>
          <a:p>
            <a:endParaRPr lang="en-US" altLang="ko-KR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9260" r="11269"/>
          <a:stretch/>
        </p:blipFill>
        <p:spPr>
          <a:xfrm>
            <a:off x="1194277" y="2286000"/>
            <a:ext cx="9379774" cy="143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533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이런 코드가 되겠지요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7513" r="54624"/>
          <a:stretch/>
        </p:blipFill>
        <p:spPr>
          <a:xfrm>
            <a:off x="1024128" y="3190875"/>
            <a:ext cx="4676121" cy="2066925"/>
          </a:xfrm>
          <a:prstGeom prst="rect">
            <a:avLst/>
          </a:prstGeom>
        </p:spPr>
      </p:pic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최종적으로는 좌측의 코드와 비슷하겠지요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우리가 임의로 정의한 예외 객체를 발생시키고 이를 상위의 </a:t>
            </a:r>
            <a:r>
              <a:rPr lang="ko-KR" altLang="en-US" dirty="0" err="1"/>
              <a:t>메소드에게</a:t>
            </a:r>
            <a:r>
              <a:rPr lang="ko-KR" altLang="en-US" dirty="0"/>
              <a:t> 떠 넘기고</a:t>
            </a:r>
            <a:r>
              <a:rPr lang="en-US" altLang="ko-KR" dirty="0"/>
              <a:t>, try-catch</a:t>
            </a:r>
            <a:r>
              <a:rPr lang="ko-KR" altLang="en-US" dirty="0"/>
              <a:t>문이 발생하면 이를 처리하였어요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예외 처리는 지금은 별로 중요해 보이지 않지만 실제로는 매우 중요한 기술이니까 반드시 숙지해 주세요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0605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끝내기 전에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만약에 </a:t>
            </a:r>
            <a:r>
              <a:rPr lang="en-US" altLang="ko-KR" dirty="0" err="1"/>
              <a:t>setB</a:t>
            </a:r>
            <a:r>
              <a:rPr lang="ko-KR" altLang="en-US" dirty="0"/>
              <a:t>가 삼각형을 이루지 못하는 정점들의 </a:t>
            </a:r>
            <a:r>
              <a:rPr lang="en-US" altLang="ko-KR" dirty="0"/>
              <a:t>Set</a:t>
            </a:r>
            <a:r>
              <a:rPr lang="ko-KR" altLang="en-US" dirty="0"/>
              <a:t>으로 이루어진 상태에서</a:t>
            </a:r>
            <a:br>
              <a:rPr lang="en-US" altLang="ko-KR" dirty="0"/>
            </a:br>
            <a:r>
              <a:rPr lang="ko-KR" altLang="en-US" dirty="0"/>
              <a:t>위의 코드가 실행되면 어떻게 될까요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 err="1"/>
              <a:t>triB</a:t>
            </a:r>
            <a:r>
              <a:rPr lang="ko-KR" altLang="en-US" dirty="0"/>
              <a:t>는 제대로 된 객체를 생성하지 못하게 되고 그대로 </a:t>
            </a:r>
            <a:r>
              <a:rPr lang="en-US" altLang="ko-KR" dirty="0"/>
              <a:t>null</a:t>
            </a:r>
            <a:r>
              <a:rPr lang="ko-KR" altLang="en-US" dirty="0"/>
              <a:t>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그러다가 </a:t>
            </a:r>
            <a:r>
              <a:rPr lang="en-US" altLang="ko-KR" dirty="0" err="1"/>
              <a:t>getAreaSize</a:t>
            </a:r>
            <a:r>
              <a:rPr lang="en-US" altLang="ko-KR" dirty="0"/>
              <a:t> </a:t>
            </a:r>
            <a:r>
              <a:rPr lang="ko-KR" altLang="en-US" dirty="0"/>
              <a:t>함수를 만났네요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이런 </a:t>
            </a:r>
            <a:r>
              <a:rPr lang="ko-KR" altLang="en-US" dirty="0" err="1"/>
              <a:t>이런</a:t>
            </a:r>
            <a:r>
              <a:rPr lang="en-US" altLang="ko-KR" dirty="0"/>
              <a:t>… </a:t>
            </a:r>
            <a:r>
              <a:rPr lang="ko-KR" altLang="en-US" dirty="0"/>
              <a:t>어떻게 될까요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82925">
            <a:off x="8808243" y="3431890"/>
            <a:ext cx="1338263" cy="1731579"/>
          </a:xfrm>
          <a:prstGeom prst="rect">
            <a:avLst/>
          </a:prstGeom>
        </p:spPr>
      </p:pic>
      <p:pic>
        <p:nvPicPr>
          <p:cNvPr id="5122" name="Picture 2" descr="https://www.gravatar.com/avatar/c842a2d7efe5d3d3c3746a32d6a991e8?s=328&amp;d=identicon&amp;r=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24540">
            <a:off x="6384924" y="4629370"/>
            <a:ext cx="1616075" cy="161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264" y="5178206"/>
            <a:ext cx="12668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52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우리의 친구</a:t>
            </a:r>
            <a:r>
              <a:rPr lang="en-US" altLang="ko-KR" dirty="0"/>
              <a:t> </a:t>
            </a:r>
            <a:r>
              <a:rPr lang="en-US" altLang="ko-KR" dirty="0" err="1"/>
              <a:t>NullPointerException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만약 객체가 제대로 생성되지 않은 상태에서 해당 객체의 함수를 호출하게 된다면</a:t>
            </a:r>
            <a:br>
              <a:rPr lang="en-US" altLang="ko-KR" dirty="0"/>
            </a:br>
            <a:r>
              <a:rPr lang="en-US" altLang="ko-KR" dirty="0"/>
              <a:t>Java</a:t>
            </a:r>
            <a:r>
              <a:rPr lang="ko-KR" altLang="en-US" dirty="0"/>
              <a:t>의 입장에서는 곤욕이 따로 없습니다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지시한 대로 실행시키려고 하는데 아무것도 없는 겁니다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null</a:t>
            </a:r>
            <a:r>
              <a:rPr lang="ko-KR" altLang="en-US" dirty="0"/>
              <a:t>인 것이죠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때 발생하는 </a:t>
            </a:r>
            <a:r>
              <a:rPr lang="en-US" altLang="ko-KR" dirty="0"/>
              <a:t>Exception</a:t>
            </a:r>
            <a:r>
              <a:rPr lang="ko-KR" altLang="en-US" dirty="0"/>
              <a:t>이 </a:t>
            </a:r>
            <a:r>
              <a:rPr lang="en-US" altLang="ko-KR" dirty="0" err="1"/>
              <a:t>NullPointerException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Java </a:t>
            </a:r>
            <a:r>
              <a:rPr lang="ko-KR" altLang="en-US" dirty="0"/>
              <a:t>코딩하면서 이 예외를 무수히 많이 보게 될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때는 반드시 무엇인가가 제대로 생성이 되지 않은 상태를 의미하니까</a:t>
            </a:r>
            <a:r>
              <a:rPr lang="en-US" altLang="ko-KR" dirty="0"/>
              <a:t>,</a:t>
            </a:r>
            <a:br>
              <a:rPr lang="en-US" altLang="ko-KR"/>
            </a:br>
            <a:r>
              <a:rPr lang="ko-KR" altLang="en-US"/>
              <a:t>거꾸로 </a:t>
            </a:r>
            <a:r>
              <a:rPr lang="ko-KR" altLang="en-US" dirty="0"/>
              <a:t>잘 파고들어가 보세요</a:t>
            </a:r>
            <a:r>
              <a:rPr lang="en-US" altLang="ko-KR" dirty="0"/>
              <a:t>!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710" y="3590925"/>
            <a:ext cx="3313189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56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Parameter Passing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Pass-by-Value</a:t>
            </a:r>
          </a:p>
          <a:p>
            <a:r>
              <a:rPr lang="en-US" altLang="ko-KR" dirty="0"/>
              <a:t>Pass-by-Reference</a:t>
            </a:r>
          </a:p>
          <a:p>
            <a:r>
              <a:rPr lang="en-US" altLang="ko-KR" dirty="0"/>
              <a:t>Java Passing Mechanism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1316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장은 여러분이 싫어할 것 같아요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에서는 함수에 </a:t>
            </a:r>
            <a:r>
              <a:rPr lang="en-US" altLang="ko-KR" dirty="0"/>
              <a:t>parameter</a:t>
            </a:r>
            <a:r>
              <a:rPr lang="ko-KR" altLang="en-US" dirty="0"/>
              <a:t>를 넘길 때 다양한 </a:t>
            </a:r>
            <a:r>
              <a:rPr lang="en-US" altLang="ko-KR" dirty="0"/>
              <a:t>mechanism</a:t>
            </a:r>
            <a:r>
              <a:rPr lang="ko-KR" altLang="en-US" dirty="0"/>
              <a:t>을 지원합니다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혹시</a:t>
            </a:r>
            <a:r>
              <a:rPr lang="en-US" altLang="ko-KR" dirty="0"/>
              <a:t>…</a:t>
            </a:r>
          </a:p>
          <a:p>
            <a:r>
              <a:rPr lang="ko-KR" altLang="en-US" dirty="0"/>
              <a:t>그것들에 대해서 정확히 설명해 주실 수 있나요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PL</a:t>
            </a:r>
            <a:r>
              <a:rPr lang="ko-KR" altLang="en-US" dirty="0"/>
              <a:t>을 들었다면 이해하기도 편할 테고 설명도 할 수 있을 거라고 생각합니다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안 들으셔도 </a:t>
            </a:r>
            <a:r>
              <a:rPr lang="ko-KR" altLang="en-US" dirty="0" err="1"/>
              <a:t>컴프나</a:t>
            </a:r>
            <a:r>
              <a:rPr lang="ko-KR" altLang="en-US" dirty="0"/>
              <a:t> </a:t>
            </a:r>
            <a:r>
              <a:rPr lang="ko-KR" altLang="en-US" dirty="0" err="1"/>
              <a:t>객지프때</a:t>
            </a:r>
            <a:r>
              <a:rPr lang="ko-KR" altLang="en-US" dirty="0"/>
              <a:t> 하지 않나요</a:t>
            </a:r>
            <a:r>
              <a:rPr lang="en-US" altLang="ko-KR" dirty="0"/>
              <a:t>…?</a:t>
            </a:r>
          </a:p>
          <a:p>
            <a:r>
              <a:rPr lang="ko-KR" altLang="en-US" dirty="0"/>
              <a:t>아닌가요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25" y="3065039"/>
            <a:ext cx="4319587" cy="131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26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의 </a:t>
            </a:r>
            <a:r>
              <a:rPr lang="en-US" altLang="ko-KR" dirty="0"/>
              <a:t>Parameter Passing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일단 우리는 </a:t>
            </a:r>
            <a:r>
              <a:rPr lang="en-US" altLang="ko-KR" dirty="0"/>
              <a:t>C/C++</a:t>
            </a:r>
            <a:r>
              <a:rPr lang="ko-KR" altLang="en-US" dirty="0"/>
              <a:t>이 아니라 </a:t>
            </a:r>
            <a:r>
              <a:rPr lang="en-US" altLang="ko-KR" dirty="0"/>
              <a:t>Java</a:t>
            </a:r>
            <a:r>
              <a:rPr lang="ko-KR" altLang="en-US" dirty="0"/>
              <a:t>니까</a:t>
            </a:r>
            <a:endParaRPr lang="en-US" altLang="ko-KR" dirty="0"/>
          </a:p>
          <a:p>
            <a:r>
              <a:rPr lang="en-US" altLang="ko-KR" dirty="0"/>
              <a:t>Java</a:t>
            </a:r>
            <a:r>
              <a:rPr lang="ko-KR" altLang="en-US" dirty="0"/>
              <a:t>의 </a:t>
            </a:r>
            <a:r>
              <a:rPr lang="en-US" altLang="ko-KR" dirty="0"/>
              <a:t>parameter passing</a:t>
            </a:r>
            <a:r>
              <a:rPr lang="ko-KR" altLang="en-US" dirty="0"/>
              <a:t>에 대해서 논해봅시다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이런 글을 보았습니다</a:t>
            </a:r>
            <a:r>
              <a:rPr lang="en-US" altLang="ko-KR" dirty="0"/>
              <a:t>.</a:t>
            </a:r>
          </a:p>
          <a:p>
            <a:r>
              <a:rPr lang="en-US" altLang="ko-KR" spc="-150" dirty="0"/>
              <a:t>“Java</a:t>
            </a:r>
            <a:r>
              <a:rPr lang="ko-KR" altLang="en-US" spc="-150" dirty="0"/>
              <a:t>의 </a:t>
            </a:r>
            <a:r>
              <a:rPr lang="en-US" altLang="ko-KR" spc="-150" dirty="0"/>
              <a:t>passing mechanism</a:t>
            </a:r>
            <a:r>
              <a:rPr lang="ko-KR" altLang="en-US" spc="-150" dirty="0"/>
              <a:t>은 </a:t>
            </a:r>
            <a:r>
              <a:rPr lang="en-US" altLang="ko-KR" spc="-150" dirty="0"/>
              <a:t>primitive type</a:t>
            </a:r>
            <a:r>
              <a:rPr lang="ko-KR" altLang="en-US" spc="-150" dirty="0"/>
              <a:t>은 </a:t>
            </a:r>
            <a:r>
              <a:rPr lang="en-US" altLang="ko-KR" spc="-150" dirty="0"/>
              <a:t>pass-by-value, object type</a:t>
            </a:r>
            <a:r>
              <a:rPr lang="ko-KR" altLang="en-US" spc="-150" dirty="0"/>
              <a:t>은 </a:t>
            </a:r>
            <a:r>
              <a:rPr lang="en-US" altLang="ko-KR" spc="-150" dirty="0"/>
              <a:t>pass-by-reference</a:t>
            </a:r>
            <a:r>
              <a:rPr lang="ko-KR" altLang="en-US" spc="-150" dirty="0"/>
              <a:t>이다</a:t>
            </a:r>
            <a:r>
              <a:rPr lang="en-US" altLang="ko-KR" spc="-150" dirty="0"/>
              <a:t>.”</a:t>
            </a:r>
          </a:p>
          <a:p>
            <a:r>
              <a:rPr lang="ko-KR" altLang="en-US" dirty="0"/>
              <a:t>여러분은 동의하나요</a:t>
            </a:r>
            <a:r>
              <a:rPr lang="en-US" altLang="ko-KR" dirty="0"/>
              <a:t>?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24731" b="33752"/>
          <a:stretch/>
        </p:blipFill>
        <p:spPr>
          <a:xfrm>
            <a:off x="9055021" y="2084832"/>
            <a:ext cx="3136979" cy="130238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r="57211"/>
          <a:stretch/>
        </p:blipFill>
        <p:spPr>
          <a:xfrm>
            <a:off x="6691205" y="2084832"/>
            <a:ext cx="2210647" cy="130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41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이제부터 문제가 나갑니다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이번 장에는 코딩을 하실 필요가 없습니다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나오는 문제를 보고 결과가 어떻게 될지 맞춰보세요</a:t>
            </a:r>
            <a:r>
              <a:rPr lang="en-US" altLang="ko-KR" dirty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938" y="2412999"/>
            <a:ext cx="4218524" cy="354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75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10" name="내용 개체 틀 9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46014"/>
          <a:stretch/>
        </p:blipFill>
        <p:spPr>
          <a:xfrm>
            <a:off x="1024128" y="2286000"/>
            <a:ext cx="4961492" cy="3295650"/>
          </a:xfrm>
          <a:prstGeom prst="rect">
            <a:avLst/>
          </a:prstGeom>
        </p:spPr>
      </p:pic>
      <p:sp>
        <p:nvSpPr>
          <p:cNvPr id="9" name="내용 개체 틀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콘솔 창의 결과는 무엇인가요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1. 0</a:t>
            </a:r>
          </a:p>
          <a:p>
            <a:r>
              <a:rPr lang="en-US" altLang="ko-KR" dirty="0"/>
              <a:t>2. 3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1223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9399"/>
          <a:stretch/>
        </p:blipFill>
        <p:spPr>
          <a:xfrm>
            <a:off x="1024128" y="2286000"/>
            <a:ext cx="3795522" cy="3985785"/>
          </a:xfrm>
          <a:prstGeom prst="rect">
            <a:avLst/>
          </a:prstGeom>
        </p:spPr>
      </p:pic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콘솔 창의 결과는 무엇인가요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1. 0</a:t>
            </a:r>
          </a:p>
          <a:p>
            <a:r>
              <a:rPr lang="en-US" altLang="ko-KR" dirty="0"/>
              <a:t>2. 3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0120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콘솔 창의 결과는 무엇인가요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1. (3, 5) -&gt; (3, 5)</a:t>
            </a:r>
          </a:p>
          <a:p>
            <a:r>
              <a:rPr lang="en-US" altLang="ko-KR" dirty="0"/>
              <a:t>2. (3, 5) -&gt; (5, 3)</a:t>
            </a:r>
          </a:p>
          <a:p>
            <a:r>
              <a:rPr lang="en-US" altLang="ko-KR" dirty="0"/>
              <a:t>3. (3, 5) -&gt; (3, 3)</a:t>
            </a:r>
          </a:p>
          <a:p>
            <a:r>
              <a:rPr lang="en-US" altLang="ko-KR" dirty="0"/>
              <a:t>3. (3, 5) -&gt; (5, 5)</a:t>
            </a:r>
            <a:endParaRPr lang="ko-KR" alt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27379"/>
          <a:stretch/>
        </p:blipFill>
        <p:spPr>
          <a:xfrm>
            <a:off x="1024128" y="2286000"/>
            <a:ext cx="4823216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64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콘솔 창의 결과는 무엇인가요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IntegerHolder</a:t>
            </a:r>
            <a:r>
              <a:rPr lang="ko-KR" altLang="en-US" dirty="0"/>
              <a:t>는 문제</a:t>
            </a:r>
            <a:r>
              <a:rPr lang="en-US" altLang="ko-KR" dirty="0"/>
              <a:t> 2</a:t>
            </a:r>
            <a:r>
              <a:rPr lang="ko-KR" altLang="en-US" dirty="0"/>
              <a:t>와 동일합니다</a:t>
            </a:r>
            <a:r>
              <a:rPr lang="en-US" altLang="ko-KR" dirty="0"/>
              <a:t>.)</a:t>
            </a:r>
          </a:p>
          <a:p>
            <a:r>
              <a:rPr lang="en-US" altLang="ko-KR" dirty="0"/>
              <a:t>1. (3, 5) -&gt; (3, 5)</a:t>
            </a:r>
          </a:p>
          <a:p>
            <a:r>
              <a:rPr lang="en-US" altLang="ko-KR" dirty="0"/>
              <a:t>2. (3, 5) -&gt; (5, 3)</a:t>
            </a:r>
          </a:p>
          <a:p>
            <a:r>
              <a:rPr lang="en-US" altLang="ko-KR" dirty="0"/>
              <a:t>3. (3, 5) -&gt; (3, 3)</a:t>
            </a:r>
          </a:p>
          <a:p>
            <a:r>
              <a:rPr lang="en-US" altLang="ko-KR" dirty="0"/>
              <a:t>3. (3, 5) -&gt; (5, 5)</a:t>
            </a:r>
            <a:endParaRPr lang="ko-KR" altLang="en-US" dirty="0"/>
          </a:p>
        </p:txBody>
      </p:sp>
      <p:pic>
        <p:nvPicPr>
          <p:cNvPr id="9" name="내용 개체 틀 8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21970"/>
          <a:stretch/>
        </p:blipFill>
        <p:spPr>
          <a:xfrm>
            <a:off x="1024128" y="2286000"/>
            <a:ext cx="4905513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66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아니 왜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Primitive Type</a:t>
            </a:r>
            <a:r>
              <a:rPr lang="ko-KR" altLang="en-US" dirty="0"/>
              <a:t>은 </a:t>
            </a:r>
            <a:r>
              <a:rPr lang="en-US" altLang="ko-KR" dirty="0"/>
              <a:t>Call-by-Value</a:t>
            </a:r>
            <a:r>
              <a:rPr lang="ko-KR" altLang="en-US" dirty="0"/>
              <a:t>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Object Type</a:t>
            </a:r>
            <a:r>
              <a:rPr lang="ko-KR" altLang="en-US" dirty="0"/>
              <a:t>은 </a:t>
            </a:r>
            <a:r>
              <a:rPr lang="en-US" altLang="ko-KR" dirty="0"/>
              <a:t>Call-by-Reference</a:t>
            </a:r>
            <a:r>
              <a:rPr lang="ko-KR" altLang="en-US" dirty="0" err="1"/>
              <a:t>라매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근데 왜 안 되는 건데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C++</a:t>
            </a:r>
            <a:r>
              <a:rPr lang="ko-KR" altLang="en-US" dirty="0"/>
              <a:t>에서는 </a:t>
            </a:r>
            <a:r>
              <a:rPr lang="ko-KR" altLang="en-US" dirty="0" err="1"/>
              <a:t>어떠냐고요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다음 </a:t>
            </a:r>
            <a:r>
              <a:rPr lang="en-US" altLang="ko-KR" dirty="0"/>
              <a:t>C++</a:t>
            </a:r>
            <a:r>
              <a:rPr lang="ko-KR" altLang="en-US" dirty="0"/>
              <a:t> 코드를 실행시켜 보세요</a:t>
            </a:r>
            <a:r>
              <a:rPr lang="en-US" altLang="ko-KR" dirty="0"/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674" y="2873692"/>
            <a:ext cx="381952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3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의 경우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51619"/>
          <a:stretch/>
        </p:blipFill>
        <p:spPr>
          <a:xfrm>
            <a:off x="1643253" y="2286000"/>
            <a:ext cx="2576322" cy="4023360"/>
          </a:xfrm>
          <a:prstGeom prst="rect">
            <a:avLst/>
          </a:prstGeom>
        </p:spPr>
      </p:pic>
      <p:sp>
        <p:nvSpPr>
          <p:cNvPr id="6" name="내용 개체 틀 5"/>
          <p:cNvSpPr>
            <a:spLocks noGrp="1"/>
          </p:cNvSpPr>
          <p:nvPr>
            <p:ph sz="half" idx="2"/>
          </p:nvPr>
        </p:nvSpPr>
        <p:spPr>
          <a:xfrm>
            <a:off x="4705349" y="2286000"/>
            <a:ext cx="6276975" cy="4023360"/>
          </a:xfrm>
        </p:spPr>
        <p:txBody>
          <a:bodyPr>
            <a:normAutofit/>
          </a:bodyPr>
          <a:lstStyle/>
          <a:p>
            <a:r>
              <a:rPr lang="ko-KR" altLang="en-US" dirty="0"/>
              <a:t>결과는 다음과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C++</a:t>
            </a:r>
            <a:r>
              <a:rPr lang="ko-KR" altLang="en-US" dirty="0"/>
              <a:t>은 </a:t>
            </a:r>
            <a:r>
              <a:rPr lang="en-US" altLang="ko-KR" dirty="0"/>
              <a:t>&amp; operator</a:t>
            </a:r>
            <a:r>
              <a:rPr lang="ko-KR" altLang="en-US" dirty="0"/>
              <a:t>를 활용하여</a:t>
            </a:r>
            <a:br>
              <a:rPr lang="en-US" altLang="ko-KR" dirty="0"/>
            </a:br>
            <a:r>
              <a:rPr lang="en-US" altLang="ko-KR" dirty="0"/>
              <a:t>pass-by-reference</a:t>
            </a:r>
            <a:r>
              <a:rPr lang="ko-KR" altLang="en-US" dirty="0"/>
              <a:t>로 </a:t>
            </a:r>
            <a:r>
              <a:rPr lang="en-US" altLang="ko-KR" dirty="0"/>
              <a:t>parameter passing</a:t>
            </a:r>
            <a:r>
              <a:rPr lang="ko-KR" altLang="en-US" dirty="0"/>
              <a:t>이 가능합니다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왜 </a:t>
            </a:r>
            <a:r>
              <a:rPr lang="en-US" altLang="ko-KR" dirty="0"/>
              <a:t>Java</a:t>
            </a:r>
            <a:r>
              <a:rPr lang="ko-KR" altLang="en-US" dirty="0"/>
              <a:t>는 되지 않는 걸까요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그 질문에 답하기 전에</a:t>
            </a:r>
            <a:r>
              <a:rPr lang="en-US" altLang="ko-KR" dirty="0"/>
              <a:t> pass-by-value</a:t>
            </a:r>
            <a:r>
              <a:rPr lang="ko-KR" altLang="en-US" dirty="0"/>
              <a:t>가 무엇인지 알아봅시다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r="64289"/>
          <a:stretch/>
        </p:blipFill>
        <p:spPr>
          <a:xfrm>
            <a:off x="5191719" y="2759593"/>
            <a:ext cx="2627228" cy="76465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9374" y="495300"/>
            <a:ext cx="2034969" cy="213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60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Pass-by-Value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Parameter passing </a:t>
            </a:r>
            <a:r>
              <a:rPr lang="ko-KR" altLang="en-US" dirty="0"/>
              <a:t>중에서 가장 보편적인 친구입니다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Subroutine</a:t>
            </a:r>
            <a:r>
              <a:rPr lang="ko-KR" altLang="en-US" dirty="0"/>
              <a:t>을 실행할 때 각각의 </a:t>
            </a:r>
            <a:r>
              <a:rPr lang="en-US" altLang="ko-KR" dirty="0"/>
              <a:t>parameter</a:t>
            </a:r>
            <a:r>
              <a:rPr lang="ko-KR" altLang="en-US" dirty="0"/>
              <a:t>에 값을 넣습니다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</a:t>
            </a:r>
            <a:r>
              <a:rPr lang="en-US" altLang="ko-KR" dirty="0"/>
              <a:t>‘</a:t>
            </a:r>
            <a:r>
              <a:rPr lang="ko-KR" altLang="en-US" dirty="0"/>
              <a:t>값</a:t>
            </a:r>
            <a:r>
              <a:rPr lang="en-US" altLang="ko-KR" dirty="0"/>
              <a:t>’</a:t>
            </a:r>
            <a:r>
              <a:rPr lang="ko-KR" altLang="en-US" dirty="0"/>
              <a:t>을 넣는다는 의미는 말 그대로</a:t>
            </a:r>
            <a:br>
              <a:rPr lang="en-US" altLang="ko-KR" dirty="0"/>
            </a:br>
            <a:r>
              <a:rPr lang="ko-KR" altLang="en-US" dirty="0"/>
              <a:t>받은 변수의 값을 그대로 복사한다는 의미입니다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이해가 잘 되지 않으신다고요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문제 </a:t>
            </a:r>
            <a:r>
              <a:rPr lang="en-US" altLang="ko-KR" dirty="0"/>
              <a:t>1</a:t>
            </a:r>
            <a:r>
              <a:rPr lang="ko-KR" altLang="en-US" dirty="0"/>
              <a:t>번을 가지고 한 번 더 설명해 드릴게요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메모리 구조와 완전히 동일하지는 않습니다만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이해하는 데 도움이 될 것이라고 생각합니다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5" y="2949892"/>
            <a:ext cx="4038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6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1 </a:t>
            </a:r>
            <a:r>
              <a:rPr lang="ko-KR" altLang="en-US" dirty="0"/>
              <a:t>다시 보기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3757422" cy="4023360"/>
          </a:xfrm>
        </p:spPr>
        <p:txBody>
          <a:bodyPr/>
          <a:lstStyle/>
          <a:p>
            <a:r>
              <a:rPr lang="ko-KR" altLang="en-US" dirty="0"/>
              <a:t>청록색 공간이 할당된 메모리 공간입니다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노란색 공간은 지역 변수가 할당된 것을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주황색 부분이 현재까지 읽은 부분입니다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그러면 메모리 공간이 오른쪽과 같을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내용 개체 틀 9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46014"/>
          <a:stretch/>
        </p:blipFill>
        <p:spPr>
          <a:xfrm>
            <a:off x="7649258" y="585216"/>
            <a:ext cx="3094942" cy="2055802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5884164" y="3322320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351051" y="2876788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12" name="오른쪽 화살표 11"/>
          <p:cNvSpPr/>
          <p:nvPr/>
        </p:nvSpPr>
        <p:spPr>
          <a:xfrm>
            <a:off x="7855839" y="733425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048376" y="3659505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i1 : 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661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1 </a:t>
            </a:r>
            <a:r>
              <a:rPr lang="ko-KR" altLang="en-US" dirty="0"/>
              <a:t>다시 보기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3757422" cy="4023360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이제 </a:t>
            </a:r>
            <a:r>
              <a:rPr lang="en-US" altLang="ko-KR" dirty="0"/>
              <a:t>reset </a:t>
            </a:r>
            <a:r>
              <a:rPr lang="ko-KR" altLang="en-US" dirty="0"/>
              <a:t>함수로 들어가게 되면</a:t>
            </a:r>
            <a:br>
              <a:rPr lang="en-US" altLang="ko-KR" dirty="0"/>
            </a:br>
            <a:r>
              <a:rPr lang="en-US" altLang="ko-KR" dirty="0"/>
              <a:t>reset</a:t>
            </a:r>
            <a:r>
              <a:rPr lang="ko-KR" altLang="en-US" dirty="0"/>
              <a:t>을 위한 공간을 </a:t>
            </a:r>
            <a:r>
              <a:rPr lang="ko-KR" altLang="en-US" dirty="0" err="1"/>
              <a:t>할당받게</a:t>
            </a:r>
            <a:r>
              <a:rPr lang="ko-KR" altLang="en-US" dirty="0"/>
              <a:t>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 </a:t>
            </a:r>
            <a:r>
              <a:rPr lang="en-US" altLang="ko-KR" dirty="0"/>
              <a:t>reset</a:t>
            </a:r>
            <a:r>
              <a:rPr lang="ko-KR" altLang="en-US" dirty="0"/>
              <a:t>의 메모리 공간 안에는 </a:t>
            </a:r>
            <a:r>
              <a:rPr lang="en-US" altLang="ko-KR" dirty="0"/>
              <a:t>parameter </a:t>
            </a:r>
            <a:r>
              <a:rPr lang="en-US" altLang="ko-KR" dirty="0" err="1"/>
              <a:t>i</a:t>
            </a:r>
            <a:r>
              <a:rPr lang="ko-KR" altLang="en-US" dirty="0"/>
              <a:t>에 해당하는 공간이 있을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en-US" altLang="ko-KR" dirty="0"/>
              <a:t>call-by-value</a:t>
            </a:r>
            <a:r>
              <a:rPr lang="ko-KR" altLang="en-US" dirty="0"/>
              <a:t>이므로</a:t>
            </a:r>
            <a:br>
              <a:rPr lang="en-US" altLang="ko-KR" dirty="0"/>
            </a:br>
            <a:r>
              <a:rPr lang="en-US" altLang="ko-KR" dirty="0"/>
              <a:t>i3</a:t>
            </a:r>
            <a:r>
              <a:rPr lang="ko-KR" altLang="en-US" dirty="0"/>
              <a:t>의 값이 곧장 </a:t>
            </a:r>
            <a:r>
              <a:rPr lang="en-US" altLang="ko-KR" dirty="0" err="1"/>
              <a:t>i</a:t>
            </a:r>
            <a:r>
              <a:rPr lang="ko-KR" altLang="en-US" dirty="0"/>
              <a:t>로 복사됩니다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이는 노란 화살표로 표시하겠습니다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좀 더 정확히는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로 이루어진 </a:t>
            </a:r>
            <a:r>
              <a:rPr lang="en-US" altLang="ko-KR" dirty="0"/>
              <a:t>4byte</a:t>
            </a:r>
            <a:r>
              <a:rPr lang="ko-KR" altLang="en-US" dirty="0"/>
              <a:t>겠지요</a:t>
            </a:r>
            <a:r>
              <a:rPr lang="en-US" altLang="ko-KR" dirty="0"/>
              <a:t>?</a:t>
            </a:r>
          </a:p>
        </p:txBody>
      </p:sp>
      <p:pic>
        <p:nvPicPr>
          <p:cNvPr id="8" name="내용 개체 틀 9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46014"/>
          <a:stretch/>
        </p:blipFill>
        <p:spPr>
          <a:xfrm>
            <a:off x="7649258" y="585216"/>
            <a:ext cx="3094942" cy="2055802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5884164" y="3322320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351051" y="2876788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12" name="오른쪽 화살표 11"/>
          <p:cNvSpPr/>
          <p:nvPr/>
        </p:nvSpPr>
        <p:spPr>
          <a:xfrm>
            <a:off x="7362826" y="2084832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048376" y="3659505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i1 : 3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8451180" y="3322320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918067" y="2876788"/>
            <a:ext cx="63709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8594055" y="3659505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</a:t>
            </a:r>
            <a:r>
              <a:rPr lang="en-US" altLang="ko-KR" dirty="0"/>
              <a:t> : 3</a:t>
            </a:r>
            <a:endParaRPr lang="ko-KR" altLang="en-US" dirty="0"/>
          </a:p>
        </p:txBody>
      </p:sp>
      <p:sp>
        <p:nvSpPr>
          <p:cNvPr id="2" name="위로 구부러진 화살표 1"/>
          <p:cNvSpPr/>
          <p:nvPr/>
        </p:nvSpPr>
        <p:spPr>
          <a:xfrm>
            <a:off x="6646163" y="4331208"/>
            <a:ext cx="2678811" cy="731520"/>
          </a:xfrm>
          <a:prstGeom prst="curvedUp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값 복사</a:t>
            </a:r>
            <a:r>
              <a:rPr lang="en-US" altLang="ko-KR" dirty="0">
                <a:solidFill>
                  <a:schemeClr val="tx1"/>
                </a:solidFill>
              </a:rPr>
              <a:t>!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161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1 </a:t>
            </a:r>
            <a:r>
              <a:rPr lang="ko-KR" altLang="en-US" dirty="0"/>
              <a:t>다시 보기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3757422" cy="4023360"/>
          </a:xfrm>
        </p:spPr>
        <p:txBody>
          <a:bodyPr/>
          <a:lstStyle/>
          <a:p>
            <a:r>
              <a:rPr lang="ko-KR" altLang="en-US" dirty="0"/>
              <a:t>이러니 </a:t>
            </a:r>
            <a:r>
              <a:rPr lang="en-US" altLang="ko-KR" dirty="0"/>
              <a:t>reset</a:t>
            </a:r>
            <a:r>
              <a:rPr lang="ko-KR" altLang="en-US" dirty="0"/>
              <a:t>함수에서 아무리 </a:t>
            </a:r>
            <a:r>
              <a:rPr lang="en-US" altLang="ko-KR" dirty="0" err="1"/>
              <a:t>i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으로 바꿔봐도 변하지 않겠지요</a:t>
            </a:r>
            <a:r>
              <a:rPr lang="en-US" altLang="ko-KR" dirty="0"/>
              <a:t>.</a:t>
            </a:r>
          </a:p>
        </p:txBody>
      </p:sp>
      <p:pic>
        <p:nvPicPr>
          <p:cNvPr id="8" name="내용 개체 틀 9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46014"/>
          <a:stretch/>
        </p:blipFill>
        <p:spPr>
          <a:xfrm>
            <a:off x="7649258" y="585216"/>
            <a:ext cx="3094942" cy="2055802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5884164" y="3322320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351051" y="2876788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12" name="오른쪽 화살표 11"/>
          <p:cNvSpPr/>
          <p:nvPr/>
        </p:nvSpPr>
        <p:spPr>
          <a:xfrm>
            <a:off x="7829551" y="2209800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048376" y="3659505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i1 : 3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8451180" y="3322320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918067" y="2876788"/>
            <a:ext cx="63709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8594055" y="3659505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</a:t>
            </a:r>
            <a:r>
              <a:rPr lang="en-US" altLang="ko-KR" dirty="0"/>
              <a:t> : 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786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1 </a:t>
            </a:r>
            <a:r>
              <a:rPr lang="ko-KR" altLang="en-US" dirty="0"/>
              <a:t>다시 보기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3757422" cy="4023360"/>
          </a:xfrm>
        </p:spPr>
        <p:txBody>
          <a:bodyPr/>
          <a:lstStyle/>
          <a:p>
            <a:r>
              <a:rPr lang="en-US" altLang="ko-KR" dirty="0"/>
              <a:t>reset</a:t>
            </a:r>
            <a:r>
              <a:rPr lang="ko-KR" altLang="en-US" dirty="0"/>
              <a:t> 함수가 끝나면 메모리에 할당되었던 모든 관련된 부분이 소멸됩니다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i1</a:t>
            </a:r>
            <a:r>
              <a:rPr lang="ko-KR" altLang="en-US" dirty="0"/>
              <a:t>은 바뀌지 않은 채로 말이죠</a:t>
            </a:r>
            <a:r>
              <a:rPr lang="en-US" altLang="ko-KR" dirty="0"/>
              <a:t>.</a:t>
            </a:r>
          </a:p>
        </p:txBody>
      </p:sp>
      <p:pic>
        <p:nvPicPr>
          <p:cNvPr id="8" name="내용 개체 틀 9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46014"/>
          <a:stretch/>
        </p:blipFill>
        <p:spPr>
          <a:xfrm>
            <a:off x="7649258" y="585216"/>
            <a:ext cx="3094942" cy="2055802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5884164" y="3322320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351051" y="2876788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12" name="오른쪽 화살표 11"/>
          <p:cNvSpPr/>
          <p:nvPr/>
        </p:nvSpPr>
        <p:spPr>
          <a:xfrm>
            <a:off x="7877176" y="1335024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048376" y="3659505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i1 : 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843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그럼 문제 </a:t>
            </a:r>
            <a:r>
              <a:rPr lang="en-US" altLang="ko-KR" dirty="0"/>
              <a:t>2</a:t>
            </a:r>
            <a:r>
              <a:rPr lang="ko-KR" altLang="en-US" dirty="0"/>
              <a:t>는요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1024128" y="2286000"/>
            <a:ext cx="9967722" cy="4023360"/>
          </a:xfrm>
        </p:spPr>
        <p:txBody>
          <a:bodyPr>
            <a:normAutofit/>
          </a:bodyPr>
          <a:lstStyle/>
          <a:p>
            <a:r>
              <a:rPr lang="ko-KR" altLang="en-US" dirty="0"/>
              <a:t>충분히 궁금하신 부분이 아닌가요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왜 문제 </a:t>
            </a:r>
            <a:r>
              <a:rPr lang="en-US" altLang="ko-KR" dirty="0"/>
              <a:t>2</a:t>
            </a:r>
            <a:r>
              <a:rPr lang="ko-KR" altLang="en-US" dirty="0"/>
              <a:t>에서는 값이 바뀐 것일까요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그 이유는 바로 </a:t>
            </a:r>
            <a:r>
              <a:rPr lang="en-US" altLang="ko-KR" dirty="0"/>
              <a:t>Java</a:t>
            </a:r>
            <a:r>
              <a:rPr lang="ko-KR" altLang="en-US" dirty="0"/>
              <a:t>에서 모든 객체는 해당 객체가 할당된 </a:t>
            </a:r>
            <a:r>
              <a:rPr lang="ko-KR" altLang="en-US" dirty="0" err="1"/>
              <a:t>주소값을</a:t>
            </a:r>
            <a:r>
              <a:rPr lang="ko-KR" altLang="en-US" dirty="0"/>
              <a:t> 가지기 때문입니다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그러니까</a:t>
            </a:r>
            <a:r>
              <a:rPr lang="en-US" altLang="ko-KR" dirty="0"/>
              <a:t>… </a:t>
            </a:r>
            <a:r>
              <a:rPr lang="ko-KR" altLang="en-US" dirty="0"/>
              <a:t>쉽게 말해서</a:t>
            </a:r>
            <a:r>
              <a:rPr lang="en-US" altLang="ko-KR" dirty="0"/>
              <a:t>… </a:t>
            </a:r>
            <a:r>
              <a:rPr lang="ko-KR" altLang="en-US" dirty="0"/>
              <a:t>포인터 </a:t>
            </a:r>
            <a:r>
              <a:rPr lang="ko-KR" altLang="en-US" dirty="0" err="1"/>
              <a:t>같달까요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문제 </a:t>
            </a:r>
            <a:r>
              <a:rPr lang="en-US" altLang="ko-KR" dirty="0"/>
              <a:t>2</a:t>
            </a:r>
            <a:r>
              <a:rPr lang="ko-KR" altLang="en-US" dirty="0"/>
              <a:t>를 같이 풀어보도록 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사실 이 부분의 메모리 구조는 개인적인 견해입니다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Java</a:t>
            </a:r>
            <a:r>
              <a:rPr lang="ko-KR" altLang="en-US" dirty="0"/>
              <a:t>는 </a:t>
            </a:r>
            <a:r>
              <a:rPr lang="en-US" altLang="ko-KR" dirty="0"/>
              <a:t>C/C++</a:t>
            </a:r>
            <a:r>
              <a:rPr lang="ko-KR" altLang="en-US" dirty="0"/>
              <a:t>과 다르게 내부 메모리 구조를 파악하는 것이 거의 불가능하기 때문입니다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9752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2 </a:t>
            </a:r>
            <a:r>
              <a:rPr lang="ko-KR" altLang="en-US" dirty="0"/>
              <a:t>다시 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338448" cy="4023360"/>
          </a:xfrm>
        </p:spPr>
        <p:txBody>
          <a:bodyPr/>
          <a:lstStyle/>
          <a:p>
            <a:r>
              <a:rPr lang="ko-KR" altLang="en-US" dirty="0"/>
              <a:t>저는 메모리 구조가 이런 형식일 것이라고 생각하고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 </a:t>
            </a:r>
            <a:r>
              <a:rPr lang="en-US" altLang="ko-KR" dirty="0"/>
              <a:t>main</a:t>
            </a:r>
            <a:r>
              <a:rPr lang="ko-KR" altLang="en-US" dirty="0"/>
              <a:t>에서 </a:t>
            </a:r>
            <a:r>
              <a:rPr lang="en-US" altLang="ko-KR" dirty="0"/>
              <a:t>h1</a:t>
            </a:r>
            <a:r>
              <a:rPr lang="ko-KR" altLang="en-US" dirty="0"/>
              <a:t>이 </a:t>
            </a:r>
            <a:r>
              <a:rPr lang="ko-KR" altLang="en-US" dirty="0" err="1"/>
              <a:t>할당받은</a:t>
            </a:r>
            <a:r>
              <a:rPr lang="ko-KR" altLang="en-US" dirty="0"/>
              <a:t> 공간에는 사실은 </a:t>
            </a:r>
            <a:r>
              <a:rPr lang="en-US" altLang="ko-KR" dirty="0" err="1"/>
              <a:t>IntegerHolder</a:t>
            </a:r>
            <a:r>
              <a:rPr lang="ko-KR" altLang="en-US" dirty="0"/>
              <a:t>의 </a:t>
            </a:r>
            <a:r>
              <a:rPr lang="ko-KR" altLang="en-US" dirty="0" err="1"/>
              <a:t>주소값이</a:t>
            </a:r>
            <a:r>
              <a:rPr lang="ko-KR" altLang="en-US" dirty="0"/>
              <a:t> 들어가 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실제 인스턴스는 다른 곳에 구현되어 있는 것이죠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ChangeAspect="1"/>
          </p:cNvPicPr>
          <p:nvPr/>
        </p:nvPicPr>
        <p:blipFill rotWithShape="1">
          <a:blip r:embed="rId2"/>
          <a:srcRect t="51991" r="39399"/>
          <a:stretch/>
        </p:blipFill>
        <p:spPr>
          <a:xfrm>
            <a:off x="8020049" y="518541"/>
            <a:ext cx="3419475" cy="1723941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884164" y="3246120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351051" y="2800588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048376" y="3583305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772399" y="4834889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3</a:t>
            </a:r>
            <a:endParaRPr lang="ko-KR" altLang="en-US" dirty="0"/>
          </a:p>
        </p:txBody>
      </p:sp>
      <p:cxnSp>
        <p:nvCxnSpPr>
          <p:cNvPr id="12" name="꺾인 연결선 11"/>
          <p:cNvCxnSpPr>
            <a:stCxn id="8" idx="2"/>
            <a:endCxn id="10" idx="1"/>
          </p:cNvCxnSpPr>
          <p:nvPr/>
        </p:nvCxnSpPr>
        <p:spPr>
          <a:xfrm rot="16200000" flipH="1">
            <a:off x="6534150" y="4333876"/>
            <a:ext cx="1371600" cy="1104898"/>
          </a:xfrm>
          <a:prstGeom prst="bentConnector2">
            <a:avLst/>
          </a:prstGeom>
          <a:ln w="254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오른쪽 화살표 13"/>
          <p:cNvSpPr/>
          <p:nvPr/>
        </p:nvSpPr>
        <p:spPr>
          <a:xfrm>
            <a:off x="8139111" y="695325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1711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2 </a:t>
            </a:r>
            <a:r>
              <a:rPr lang="ko-KR" altLang="en-US" dirty="0"/>
              <a:t>다시 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338448" cy="4023360"/>
          </a:xfrm>
        </p:spPr>
        <p:txBody>
          <a:bodyPr/>
          <a:lstStyle/>
          <a:p>
            <a:r>
              <a:rPr lang="ko-KR" altLang="en-US" dirty="0"/>
              <a:t>자 </a:t>
            </a:r>
            <a:r>
              <a:rPr lang="en-US" altLang="ko-KR" dirty="0"/>
              <a:t>reset</a:t>
            </a:r>
            <a:r>
              <a:rPr lang="ko-KR" altLang="en-US" dirty="0"/>
              <a:t>함수를 호출하게 되면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holder</a:t>
            </a:r>
            <a:r>
              <a:rPr lang="ko-KR" altLang="en-US" dirty="0"/>
              <a:t>라는 변수에 값이 들어가야 하겠지요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이 값은 바로</a:t>
            </a:r>
            <a:r>
              <a:rPr lang="en-US" altLang="ko-KR" dirty="0"/>
              <a:t> main</a:t>
            </a:r>
            <a:r>
              <a:rPr lang="ko-KR" altLang="en-US" dirty="0"/>
              <a:t> 안의 </a:t>
            </a:r>
            <a:r>
              <a:rPr lang="en-US" altLang="ko-KR" dirty="0"/>
              <a:t>h1</a:t>
            </a:r>
            <a:r>
              <a:rPr lang="ko-KR" altLang="en-US" dirty="0"/>
              <a:t>의 값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Instance</a:t>
            </a:r>
            <a:r>
              <a:rPr lang="ko-KR" altLang="en-US" dirty="0"/>
              <a:t>의 </a:t>
            </a:r>
            <a:r>
              <a:rPr lang="ko-KR" altLang="en-US" dirty="0" err="1"/>
              <a:t>주소값이</a:t>
            </a:r>
            <a:r>
              <a:rPr lang="ko-KR" altLang="en-US" dirty="0"/>
              <a:t> 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 </a:t>
            </a:r>
            <a:r>
              <a:rPr lang="en-US" altLang="ko-KR" dirty="0"/>
              <a:t>main</a:t>
            </a:r>
            <a:r>
              <a:rPr lang="ko-KR" altLang="en-US" dirty="0"/>
              <a:t>의 </a:t>
            </a:r>
            <a:r>
              <a:rPr lang="en-US" altLang="ko-KR" dirty="0"/>
              <a:t>h1</a:t>
            </a:r>
            <a:r>
              <a:rPr lang="ko-KR" altLang="en-US" dirty="0"/>
              <a:t>과 </a:t>
            </a:r>
            <a:r>
              <a:rPr lang="en-US" altLang="ko-KR" dirty="0"/>
              <a:t>reset</a:t>
            </a:r>
            <a:r>
              <a:rPr lang="ko-KR" altLang="en-US" dirty="0"/>
              <a:t>의 </a:t>
            </a:r>
            <a:r>
              <a:rPr lang="en-US" altLang="ko-KR" dirty="0"/>
              <a:t>holder</a:t>
            </a:r>
            <a:r>
              <a:rPr lang="ko-KR" altLang="en-US" dirty="0"/>
              <a:t>가 같은 주소 공간을 보고 있는 것이지요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상태를 </a:t>
            </a:r>
            <a:r>
              <a:rPr lang="en-US" altLang="ko-KR" dirty="0"/>
              <a:t>alias(</a:t>
            </a:r>
            <a:r>
              <a:rPr lang="ko-KR" altLang="en-US" dirty="0"/>
              <a:t>별명</a:t>
            </a:r>
            <a:r>
              <a:rPr lang="en-US" altLang="ko-KR" dirty="0"/>
              <a:t>)</a:t>
            </a:r>
            <a:r>
              <a:rPr lang="ko-KR" altLang="en-US" dirty="0"/>
              <a:t>이라고 합니다</a:t>
            </a:r>
            <a:r>
              <a:rPr lang="en-US" altLang="ko-KR" dirty="0"/>
              <a:t>.</a:t>
            </a:r>
          </a:p>
        </p:txBody>
      </p:sp>
      <p:pic>
        <p:nvPicPr>
          <p:cNvPr id="5" name="내용 개체 틀 4"/>
          <p:cNvPicPr>
            <a:picLocks noChangeAspect="1"/>
          </p:cNvPicPr>
          <p:nvPr/>
        </p:nvPicPr>
        <p:blipFill rotWithShape="1">
          <a:blip r:embed="rId2"/>
          <a:srcRect t="51991" r="39399"/>
          <a:stretch/>
        </p:blipFill>
        <p:spPr>
          <a:xfrm>
            <a:off x="8020049" y="518541"/>
            <a:ext cx="3419475" cy="1723941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884164" y="3246120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351051" y="2800588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048376" y="3583305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772399" y="4834889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3</a:t>
            </a:r>
            <a:endParaRPr lang="ko-KR" altLang="en-US" dirty="0"/>
          </a:p>
        </p:txBody>
      </p:sp>
      <p:cxnSp>
        <p:nvCxnSpPr>
          <p:cNvPr id="12" name="꺾인 연결선 11"/>
          <p:cNvCxnSpPr>
            <a:stCxn id="8" idx="2"/>
            <a:endCxn id="10" idx="1"/>
          </p:cNvCxnSpPr>
          <p:nvPr/>
        </p:nvCxnSpPr>
        <p:spPr>
          <a:xfrm rot="16200000" flipH="1">
            <a:off x="6534150" y="4333876"/>
            <a:ext cx="1371600" cy="1104898"/>
          </a:xfrm>
          <a:prstGeom prst="bentConnector2">
            <a:avLst/>
          </a:prstGeom>
          <a:ln w="254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오른쪽 화살표 13"/>
          <p:cNvSpPr/>
          <p:nvPr/>
        </p:nvSpPr>
        <p:spPr>
          <a:xfrm>
            <a:off x="7720011" y="1800225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9670159" y="3246120"/>
            <a:ext cx="1524000" cy="25031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113610" y="2800588"/>
            <a:ext cx="63709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9813034" y="3583304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holder</a:t>
            </a:r>
            <a:endParaRPr lang="ko-KR" altLang="en-US" dirty="0"/>
          </a:p>
        </p:txBody>
      </p:sp>
      <p:cxnSp>
        <p:nvCxnSpPr>
          <p:cNvPr id="16" name="꺾인 연결선 15"/>
          <p:cNvCxnSpPr>
            <a:stCxn id="15" idx="2"/>
            <a:endCxn id="10" idx="3"/>
          </p:cNvCxnSpPr>
          <p:nvPr/>
        </p:nvCxnSpPr>
        <p:spPr>
          <a:xfrm rot="5400000">
            <a:off x="9183242" y="4323207"/>
            <a:ext cx="1371601" cy="1126235"/>
          </a:xfrm>
          <a:prstGeom prst="bentConnector2">
            <a:avLst/>
          </a:prstGeom>
          <a:ln w="254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아래로 구부러진 화살표 18"/>
          <p:cNvSpPr/>
          <p:nvPr/>
        </p:nvSpPr>
        <p:spPr>
          <a:xfrm>
            <a:off x="7048714" y="2728340"/>
            <a:ext cx="3383445" cy="731520"/>
          </a:xfrm>
          <a:prstGeom prst="curved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871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2 </a:t>
            </a:r>
            <a:r>
              <a:rPr lang="ko-KR" altLang="en-US" dirty="0"/>
              <a:t>다시 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338448" cy="4023360"/>
          </a:xfrm>
        </p:spPr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/>
              <a:t>holder</a:t>
            </a:r>
            <a:r>
              <a:rPr lang="ko-KR" altLang="en-US" dirty="0"/>
              <a:t>의 </a:t>
            </a:r>
            <a:r>
              <a:rPr lang="en-US" altLang="ko-KR" dirty="0" err="1"/>
              <a:t>i</a:t>
            </a:r>
            <a:r>
              <a:rPr lang="ko-KR" altLang="en-US" dirty="0"/>
              <a:t>를 바꿔 봅시다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그러면 </a:t>
            </a:r>
            <a:r>
              <a:rPr lang="en-US" altLang="ko-KR" dirty="0"/>
              <a:t>main</a:t>
            </a:r>
            <a:r>
              <a:rPr lang="ko-KR" altLang="en-US" dirty="0"/>
              <a:t>의 </a:t>
            </a:r>
            <a:r>
              <a:rPr lang="en-US" altLang="ko-KR" dirty="0"/>
              <a:t>h1</a:t>
            </a:r>
            <a:r>
              <a:rPr lang="ko-KR" altLang="en-US" dirty="0"/>
              <a:t>도 똑같이 바뀌겠지요</a:t>
            </a:r>
            <a:r>
              <a:rPr lang="en-US" altLang="ko-KR" dirty="0"/>
              <a:t>?</a:t>
            </a:r>
          </a:p>
        </p:txBody>
      </p:sp>
      <p:pic>
        <p:nvPicPr>
          <p:cNvPr id="5" name="내용 개체 틀 4"/>
          <p:cNvPicPr>
            <a:picLocks noChangeAspect="1"/>
          </p:cNvPicPr>
          <p:nvPr/>
        </p:nvPicPr>
        <p:blipFill rotWithShape="1">
          <a:blip r:embed="rId2"/>
          <a:srcRect t="51991" r="39399"/>
          <a:stretch/>
        </p:blipFill>
        <p:spPr>
          <a:xfrm>
            <a:off x="8020049" y="518541"/>
            <a:ext cx="3419475" cy="1723941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884164" y="3246120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351051" y="2800588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048376" y="3583305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772399" y="4834889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0</a:t>
            </a:r>
            <a:endParaRPr lang="ko-KR" altLang="en-US" dirty="0"/>
          </a:p>
        </p:txBody>
      </p:sp>
      <p:cxnSp>
        <p:nvCxnSpPr>
          <p:cNvPr id="12" name="꺾인 연결선 11"/>
          <p:cNvCxnSpPr>
            <a:stCxn id="8" idx="2"/>
            <a:endCxn id="10" idx="1"/>
          </p:cNvCxnSpPr>
          <p:nvPr/>
        </p:nvCxnSpPr>
        <p:spPr>
          <a:xfrm rot="16200000" flipH="1">
            <a:off x="6534150" y="4333876"/>
            <a:ext cx="1371600" cy="1104898"/>
          </a:xfrm>
          <a:prstGeom prst="bentConnector2">
            <a:avLst/>
          </a:prstGeom>
          <a:ln w="254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오른쪽 화살표 13"/>
          <p:cNvSpPr/>
          <p:nvPr/>
        </p:nvSpPr>
        <p:spPr>
          <a:xfrm>
            <a:off x="8215311" y="1932432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9670159" y="3246120"/>
            <a:ext cx="1524000" cy="25031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113610" y="2800588"/>
            <a:ext cx="63709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9813034" y="3583304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holder</a:t>
            </a:r>
            <a:endParaRPr lang="ko-KR" altLang="en-US" dirty="0"/>
          </a:p>
        </p:txBody>
      </p:sp>
      <p:cxnSp>
        <p:nvCxnSpPr>
          <p:cNvPr id="16" name="꺾인 연결선 15"/>
          <p:cNvCxnSpPr>
            <a:stCxn id="15" idx="2"/>
            <a:endCxn id="10" idx="3"/>
          </p:cNvCxnSpPr>
          <p:nvPr/>
        </p:nvCxnSpPr>
        <p:spPr>
          <a:xfrm rot="5400000">
            <a:off x="9183242" y="4323207"/>
            <a:ext cx="1371601" cy="1126235"/>
          </a:xfrm>
          <a:prstGeom prst="bentConnector2">
            <a:avLst/>
          </a:prstGeom>
          <a:ln w="254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6795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2 </a:t>
            </a:r>
            <a:r>
              <a:rPr lang="ko-KR" altLang="en-US" dirty="0"/>
              <a:t>다시 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424172" cy="4023360"/>
          </a:xfrm>
        </p:spPr>
        <p:txBody>
          <a:bodyPr/>
          <a:lstStyle/>
          <a:p>
            <a:r>
              <a:rPr lang="ko-KR" altLang="en-US" dirty="0"/>
              <a:t>이 상태로 </a:t>
            </a:r>
            <a:r>
              <a:rPr lang="en-US" altLang="ko-KR" dirty="0"/>
              <a:t>reset</a:t>
            </a:r>
            <a:r>
              <a:rPr lang="ko-KR" altLang="en-US" dirty="0"/>
              <a:t>이 끝나면</a:t>
            </a:r>
            <a:r>
              <a:rPr lang="en-US" altLang="ko-KR" dirty="0"/>
              <a:t> </a:t>
            </a:r>
            <a:r>
              <a:rPr lang="ko-KR" altLang="en-US" dirty="0"/>
              <a:t>할당되었던 모든 주소 공간이 해제됩니다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우리는 </a:t>
            </a:r>
            <a:r>
              <a:rPr lang="en-US" altLang="ko-KR" dirty="0"/>
              <a:t>alias</a:t>
            </a:r>
            <a:r>
              <a:rPr lang="ko-KR" altLang="en-US" dirty="0"/>
              <a:t>를 통해서 이미 </a:t>
            </a:r>
            <a:r>
              <a:rPr lang="en-US" altLang="ko-KR" dirty="0"/>
              <a:t>h1</a:t>
            </a:r>
            <a:r>
              <a:rPr lang="ko-KR" altLang="en-US" dirty="0"/>
              <a:t>의 </a:t>
            </a:r>
            <a:r>
              <a:rPr lang="en-US" altLang="ko-KR" dirty="0" err="1"/>
              <a:t>i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으로 바꿨습니다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pic>
        <p:nvPicPr>
          <p:cNvPr id="5" name="내용 개체 틀 4"/>
          <p:cNvPicPr>
            <a:picLocks noChangeAspect="1"/>
          </p:cNvPicPr>
          <p:nvPr/>
        </p:nvPicPr>
        <p:blipFill rotWithShape="1">
          <a:blip r:embed="rId2"/>
          <a:srcRect t="51991" r="39399"/>
          <a:stretch/>
        </p:blipFill>
        <p:spPr>
          <a:xfrm>
            <a:off x="8020049" y="518541"/>
            <a:ext cx="3419475" cy="1723941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884164" y="3246120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351051" y="2800588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048376" y="3583305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772399" y="4834889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0</a:t>
            </a:r>
            <a:endParaRPr lang="ko-KR" altLang="en-US" dirty="0"/>
          </a:p>
        </p:txBody>
      </p:sp>
      <p:cxnSp>
        <p:nvCxnSpPr>
          <p:cNvPr id="12" name="꺾인 연결선 11"/>
          <p:cNvCxnSpPr>
            <a:stCxn id="8" idx="2"/>
            <a:endCxn id="10" idx="1"/>
          </p:cNvCxnSpPr>
          <p:nvPr/>
        </p:nvCxnSpPr>
        <p:spPr>
          <a:xfrm rot="16200000" flipH="1">
            <a:off x="6534150" y="4333876"/>
            <a:ext cx="1371600" cy="1104898"/>
          </a:xfrm>
          <a:prstGeom prst="bentConnector2">
            <a:avLst/>
          </a:prstGeom>
          <a:ln w="254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오른쪽 화살표 13"/>
          <p:cNvSpPr/>
          <p:nvPr/>
        </p:nvSpPr>
        <p:spPr>
          <a:xfrm>
            <a:off x="8215311" y="1932432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186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2 </a:t>
            </a:r>
            <a:r>
              <a:rPr lang="ko-KR" altLang="en-US" dirty="0"/>
              <a:t>다시 보기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좀 이해가 되시나요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객체는 덩어리가 크기 때문에 그 전체를 복사해서 다시 할당하는 것은 매우 비효율적입니다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대신 객체를 </a:t>
            </a:r>
            <a:r>
              <a:rPr lang="ko-KR" altLang="en-US" dirty="0" err="1"/>
              <a:t>주소값으로</a:t>
            </a:r>
            <a:r>
              <a:rPr lang="ko-KR" altLang="en-US" dirty="0"/>
              <a:t> 관리한다면 </a:t>
            </a:r>
            <a:r>
              <a:rPr lang="en-US" altLang="ko-KR" dirty="0"/>
              <a:t>parameter</a:t>
            </a:r>
            <a:r>
              <a:rPr lang="ko-KR" altLang="en-US" dirty="0"/>
              <a:t>를 주고 받을 때 훨씬 </a:t>
            </a:r>
            <a:r>
              <a:rPr lang="ko-KR" altLang="en-US" dirty="0" err="1"/>
              <a:t>간단하겠지요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때문에 이런 상황이 가능한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여기서 중요한 것은 </a:t>
            </a:r>
            <a:r>
              <a:rPr lang="en-US" altLang="ko-KR" dirty="0"/>
              <a:t>object type</a:t>
            </a:r>
            <a:r>
              <a:rPr lang="ko-KR" altLang="en-US" dirty="0"/>
              <a:t>도 분명히 </a:t>
            </a:r>
            <a:r>
              <a:rPr lang="en-US" altLang="ko-KR" dirty="0"/>
              <a:t>pass-by-value</a:t>
            </a:r>
            <a:r>
              <a:rPr lang="ko-KR" altLang="en-US" dirty="0"/>
              <a:t>로 넘겼다는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문제 </a:t>
            </a:r>
            <a:r>
              <a:rPr lang="en-US" altLang="ko-KR" dirty="0"/>
              <a:t>3</a:t>
            </a:r>
            <a:r>
              <a:rPr lang="ko-KR" altLang="en-US" dirty="0"/>
              <a:t>은 쉬우니까 이대로 문제 </a:t>
            </a:r>
            <a:r>
              <a:rPr lang="en-US" altLang="ko-KR" dirty="0"/>
              <a:t>4</a:t>
            </a:r>
            <a:r>
              <a:rPr lang="ko-KR" altLang="en-US" dirty="0"/>
              <a:t>를 한 번 같이 풀어보죠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8957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4 </a:t>
            </a:r>
            <a:r>
              <a:rPr lang="ko-KR" altLang="en-US" dirty="0"/>
              <a:t>다시 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338448" cy="4023360"/>
          </a:xfrm>
        </p:spPr>
        <p:txBody>
          <a:bodyPr/>
          <a:lstStyle/>
          <a:p>
            <a:r>
              <a:rPr lang="en-US" altLang="ko-KR" dirty="0"/>
              <a:t>h2</a:t>
            </a:r>
            <a:r>
              <a:rPr lang="ko-KR" altLang="en-US" dirty="0"/>
              <a:t>까지 읽었을 때의 메모리 상황입니다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개의 서로 다른 객체</a:t>
            </a:r>
            <a:r>
              <a:rPr lang="en-US" altLang="ko-KR" dirty="0"/>
              <a:t> h1</a:t>
            </a:r>
            <a:r>
              <a:rPr lang="ko-KR" altLang="en-US" dirty="0"/>
              <a:t>과 </a:t>
            </a:r>
            <a:r>
              <a:rPr lang="en-US" altLang="ko-KR" dirty="0"/>
              <a:t>h2</a:t>
            </a:r>
            <a:r>
              <a:rPr lang="ko-KR" altLang="en-US" dirty="0"/>
              <a:t>가 있고</a:t>
            </a:r>
            <a:br>
              <a:rPr lang="en-US" altLang="ko-KR" dirty="0"/>
            </a:br>
            <a:r>
              <a:rPr lang="en-US" altLang="ko-KR" dirty="0"/>
              <a:t>main</a:t>
            </a:r>
            <a:r>
              <a:rPr lang="ko-KR" altLang="en-US" dirty="0"/>
              <a:t>이 </a:t>
            </a:r>
            <a:r>
              <a:rPr lang="ko-KR" altLang="en-US" dirty="0" err="1"/>
              <a:t>할당받은</a:t>
            </a:r>
            <a:r>
              <a:rPr lang="ko-KR" altLang="en-US" dirty="0"/>
              <a:t> 공간 안에서는 각각의 </a:t>
            </a:r>
            <a:r>
              <a:rPr lang="en-US" altLang="ko-KR" dirty="0"/>
              <a:t>instance</a:t>
            </a:r>
            <a:r>
              <a:rPr lang="ko-KR" altLang="en-US" dirty="0"/>
              <a:t>의 </a:t>
            </a:r>
            <a:r>
              <a:rPr lang="ko-KR" altLang="en-US" dirty="0" err="1"/>
              <a:t>주소값을</a:t>
            </a:r>
            <a:r>
              <a:rPr lang="ko-KR" altLang="en-US" dirty="0"/>
              <a:t> 가지고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5884164" y="3007995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351051" y="2562463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048376" y="3345180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822404" y="3522344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3</a:t>
            </a:r>
            <a:endParaRPr lang="ko-KR" altLang="en-US" dirty="0"/>
          </a:p>
        </p:txBody>
      </p:sp>
      <p:cxnSp>
        <p:nvCxnSpPr>
          <p:cNvPr id="12" name="꺾인 연결선 11"/>
          <p:cNvCxnSpPr>
            <a:stCxn id="8" idx="2"/>
            <a:endCxn id="10" idx="1"/>
          </p:cNvCxnSpPr>
          <p:nvPr/>
        </p:nvCxnSpPr>
        <p:spPr>
          <a:xfrm rot="16200000" flipH="1">
            <a:off x="7096362" y="3533538"/>
            <a:ext cx="297180" cy="1154903"/>
          </a:xfrm>
          <a:prstGeom prst="bentConnector2">
            <a:avLst/>
          </a:prstGeom>
          <a:ln w="254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오른쪽 화살표 13"/>
          <p:cNvSpPr/>
          <p:nvPr/>
        </p:nvSpPr>
        <p:spPr>
          <a:xfrm>
            <a:off x="8036130" y="585216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7822403" y="5145404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5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6048376" y="4499609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h2</a:t>
            </a:r>
            <a:endParaRPr lang="ko-KR" altLang="en-US" dirty="0"/>
          </a:p>
        </p:txBody>
      </p:sp>
      <p:cxnSp>
        <p:nvCxnSpPr>
          <p:cNvPr id="17" name="꺾인 연결선 16"/>
          <p:cNvCxnSpPr>
            <a:stCxn id="16" idx="2"/>
            <a:endCxn id="15" idx="1"/>
          </p:cNvCxnSpPr>
          <p:nvPr/>
        </p:nvCxnSpPr>
        <p:spPr>
          <a:xfrm rot="16200000" flipH="1">
            <a:off x="6862047" y="4922283"/>
            <a:ext cx="765811" cy="1154902"/>
          </a:xfrm>
          <a:prstGeom prst="bentConnector2">
            <a:avLst/>
          </a:prstGeom>
          <a:ln w="254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" name="내용 개체 틀 8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21970"/>
          <a:stretch/>
        </p:blipFill>
        <p:spPr>
          <a:xfrm>
            <a:off x="7826580" y="442368"/>
            <a:ext cx="4233751" cy="207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08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4 </a:t>
            </a:r>
            <a:r>
              <a:rPr lang="ko-KR" altLang="en-US" dirty="0"/>
              <a:t>다시 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338448" cy="402336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이제 </a:t>
            </a:r>
            <a:r>
              <a:rPr lang="en-US" altLang="ko-KR" dirty="0"/>
              <a:t>swap</a:t>
            </a:r>
            <a:r>
              <a:rPr lang="ko-KR" altLang="en-US" dirty="0"/>
              <a:t>까지 들어왔습니다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swap</a:t>
            </a:r>
            <a:r>
              <a:rPr lang="ko-KR" altLang="en-US" dirty="0"/>
              <a:t>의</a:t>
            </a:r>
            <a:r>
              <a:rPr lang="en-US" altLang="ko-KR" dirty="0"/>
              <a:t> h1</a:t>
            </a:r>
            <a:r>
              <a:rPr lang="ko-KR" altLang="en-US" dirty="0"/>
              <a:t>에는 </a:t>
            </a:r>
            <a:r>
              <a:rPr lang="en-US" altLang="ko-KR" dirty="0"/>
              <a:t>main h1</a:t>
            </a:r>
            <a:r>
              <a:rPr lang="ko-KR" altLang="en-US" dirty="0"/>
              <a:t>의 값인 위에 있는</a:t>
            </a:r>
            <a:r>
              <a:rPr lang="en-US" altLang="ko-KR" dirty="0"/>
              <a:t>instance</a:t>
            </a:r>
            <a:r>
              <a:rPr lang="ko-KR" altLang="en-US" dirty="0"/>
              <a:t>의 </a:t>
            </a:r>
            <a:r>
              <a:rPr lang="ko-KR" altLang="en-US" dirty="0" err="1"/>
              <a:t>주소값이</a:t>
            </a:r>
            <a:r>
              <a:rPr lang="en-US" altLang="ko-KR" dirty="0"/>
              <a:t> swap h2</a:t>
            </a:r>
            <a:r>
              <a:rPr lang="ko-KR" altLang="en-US" dirty="0"/>
              <a:t>는 </a:t>
            </a:r>
            <a:r>
              <a:rPr lang="en-US" altLang="ko-KR" dirty="0"/>
              <a:t>main h2</a:t>
            </a:r>
            <a:r>
              <a:rPr lang="ko-KR" altLang="en-US" dirty="0"/>
              <a:t>의 값인 아래 </a:t>
            </a:r>
            <a:r>
              <a:rPr lang="en-US" altLang="ko-KR" dirty="0"/>
              <a:t>instance</a:t>
            </a:r>
            <a:r>
              <a:rPr lang="ko-KR" altLang="en-US" dirty="0"/>
              <a:t>의 </a:t>
            </a:r>
            <a:r>
              <a:rPr lang="ko-KR" altLang="en-US" dirty="0" err="1"/>
              <a:t>주소값이</a:t>
            </a:r>
            <a:r>
              <a:rPr lang="ko-KR" altLang="en-US" dirty="0"/>
              <a:t> 들어갑니다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여기서 중요한 것은 </a:t>
            </a:r>
            <a:r>
              <a:rPr lang="en-US" altLang="ko-KR" dirty="0"/>
              <a:t>main h1</a:t>
            </a:r>
            <a:r>
              <a:rPr lang="ko-KR" altLang="en-US" dirty="0"/>
              <a:t>과 </a:t>
            </a:r>
            <a:r>
              <a:rPr lang="en-US" altLang="ko-KR" dirty="0"/>
              <a:t>swap h1,</a:t>
            </a:r>
            <a:br>
              <a:rPr lang="en-US" altLang="ko-KR" dirty="0"/>
            </a:br>
            <a:r>
              <a:rPr lang="ko-KR" altLang="en-US" dirty="0"/>
              <a:t>그리고 </a:t>
            </a:r>
            <a:r>
              <a:rPr lang="en-US" altLang="ko-KR" dirty="0"/>
              <a:t>main h2</a:t>
            </a:r>
            <a:r>
              <a:rPr lang="ko-KR" altLang="en-US" dirty="0"/>
              <a:t>와 </a:t>
            </a:r>
            <a:r>
              <a:rPr lang="en-US" altLang="ko-KR" dirty="0"/>
              <a:t>swap h2</a:t>
            </a:r>
            <a:r>
              <a:rPr lang="ko-KR" altLang="en-US" dirty="0"/>
              <a:t>가 변수 이름은 같지만 메모리 공간이 엄연히 다른 것임을 인지하세요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5774493" y="3377327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241380" y="2931795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938705" y="3714512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941493" y="2977514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3</a:t>
            </a:r>
            <a:endParaRPr lang="ko-KR" altLang="en-US" dirty="0"/>
          </a:p>
        </p:txBody>
      </p:sp>
      <p:sp>
        <p:nvSpPr>
          <p:cNvPr id="14" name="오른쪽 화살표 13"/>
          <p:cNvSpPr/>
          <p:nvPr/>
        </p:nvSpPr>
        <p:spPr>
          <a:xfrm>
            <a:off x="7551024" y="1671066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7941492" y="4600574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5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5938705" y="4868941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h2</a:t>
            </a:r>
            <a:endParaRPr lang="ko-KR" altLang="en-US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0118019" y="3007994"/>
            <a:ext cx="1524000" cy="33013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0584906" y="2562463"/>
            <a:ext cx="61427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swap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10282231" y="3345180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10282231" y="4402456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h2</a:t>
            </a:r>
            <a:endParaRPr lang="ko-KR" altLang="en-US" dirty="0"/>
          </a:p>
        </p:txBody>
      </p:sp>
      <p:cxnSp>
        <p:nvCxnSpPr>
          <p:cNvPr id="29" name="직선 화살표 연결선 28"/>
          <p:cNvCxnSpPr>
            <a:endCxn id="10" idx="1"/>
          </p:cNvCxnSpPr>
          <p:nvPr/>
        </p:nvCxnSpPr>
        <p:spPr>
          <a:xfrm flipV="1">
            <a:off x="7176955" y="3714750"/>
            <a:ext cx="764538" cy="314325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6" idx="3"/>
            <a:endCxn id="15" idx="1"/>
          </p:cNvCxnSpPr>
          <p:nvPr/>
        </p:nvCxnSpPr>
        <p:spPr>
          <a:xfrm>
            <a:off x="7176955" y="5177551"/>
            <a:ext cx="764537" cy="160259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20" idx="1"/>
            <a:endCxn id="10" idx="3"/>
          </p:cNvCxnSpPr>
          <p:nvPr/>
        </p:nvCxnSpPr>
        <p:spPr>
          <a:xfrm flipH="1">
            <a:off x="9475018" y="3653790"/>
            <a:ext cx="807213" cy="6096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21" idx="1"/>
            <a:endCxn id="15" idx="3"/>
          </p:cNvCxnSpPr>
          <p:nvPr/>
        </p:nvCxnSpPr>
        <p:spPr>
          <a:xfrm flipH="1">
            <a:off x="9475017" y="4711066"/>
            <a:ext cx="807214" cy="62674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아래로 구부러진 화살표 37"/>
          <p:cNvSpPr/>
          <p:nvPr/>
        </p:nvSpPr>
        <p:spPr>
          <a:xfrm>
            <a:off x="6898786" y="2865120"/>
            <a:ext cx="3845414" cy="731520"/>
          </a:xfrm>
          <a:prstGeom prst="curved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아래로 구부러진 화살표 38"/>
          <p:cNvSpPr/>
          <p:nvPr/>
        </p:nvSpPr>
        <p:spPr>
          <a:xfrm>
            <a:off x="6831606" y="4057650"/>
            <a:ext cx="3727666" cy="731520"/>
          </a:xfrm>
          <a:prstGeom prst="curved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1" name="내용 개체 틀 8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21970"/>
          <a:stretch/>
        </p:blipFill>
        <p:spPr>
          <a:xfrm>
            <a:off x="7864680" y="288475"/>
            <a:ext cx="4233751" cy="207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229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4 </a:t>
            </a:r>
            <a:r>
              <a:rPr lang="ko-KR" altLang="en-US" dirty="0"/>
              <a:t>다시 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338448" cy="402336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temp</a:t>
            </a:r>
            <a:r>
              <a:rPr lang="ko-KR" altLang="en-US" dirty="0"/>
              <a:t>에 </a:t>
            </a:r>
            <a:r>
              <a:rPr lang="en-US" altLang="ko-KR" dirty="0"/>
              <a:t>h1</a:t>
            </a:r>
            <a:r>
              <a:rPr lang="ko-KR" altLang="en-US" dirty="0"/>
              <a:t>의 값을 넣습니다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그러면 </a:t>
            </a:r>
            <a:r>
              <a:rPr lang="en-US" altLang="ko-KR" dirty="0"/>
              <a:t>temp</a:t>
            </a:r>
            <a:r>
              <a:rPr lang="ko-KR" altLang="en-US" dirty="0"/>
              <a:t>도 </a:t>
            </a:r>
            <a:r>
              <a:rPr lang="en-US" altLang="ko-KR" dirty="0"/>
              <a:t>h1</a:t>
            </a:r>
            <a:r>
              <a:rPr lang="ko-KR" altLang="en-US" dirty="0"/>
              <a:t>이 보는 것을 같이 바라 보겠지요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현재 위의 </a:t>
            </a:r>
            <a:r>
              <a:rPr lang="en-US" altLang="ko-KR" dirty="0"/>
              <a:t>instance</a:t>
            </a:r>
            <a:r>
              <a:rPr lang="ko-KR" altLang="en-US" dirty="0"/>
              <a:t>를 바라보는 변수가 </a:t>
            </a:r>
            <a:br>
              <a:rPr lang="en-US" altLang="ko-KR" dirty="0"/>
            </a:br>
            <a:r>
              <a:rPr lang="ko-KR" altLang="en-US" dirty="0"/>
              <a:t>총 </a:t>
            </a:r>
            <a:r>
              <a:rPr lang="en-US" altLang="ko-KR" dirty="0"/>
              <a:t>3</a:t>
            </a:r>
            <a:r>
              <a:rPr lang="ko-KR" altLang="en-US" dirty="0"/>
              <a:t>개나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5774493" y="3377327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241380" y="2931795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938705" y="3714512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941493" y="2977514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3</a:t>
            </a:r>
            <a:endParaRPr lang="ko-KR" altLang="en-US" dirty="0"/>
          </a:p>
        </p:txBody>
      </p:sp>
      <p:sp>
        <p:nvSpPr>
          <p:cNvPr id="14" name="오른쪽 화살표 13"/>
          <p:cNvSpPr/>
          <p:nvPr/>
        </p:nvSpPr>
        <p:spPr>
          <a:xfrm>
            <a:off x="8008224" y="1813941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7941492" y="4600574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5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5938705" y="4868941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h2</a:t>
            </a:r>
            <a:endParaRPr lang="ko-KR" altLang="en-US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0118019" y="3007994"/>
            <a:ext cx="1524000" cy="33013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0584906" y="2562463"/>
            <a:ext cx="61427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swap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10282231" y="3345180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10282231" y="4402456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h2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10282231" y="5441278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  <a:endParaRPr lang="ko-KR" altLang="en-US" dirty="0"/>
          </a:p>
        </p:txBody>
      </p:sp>
      <p:cxnSp>
        <p:nvCxnSpPr>
          <p:cNvPr id="29" name="직선 화살표 연결선 28"/>
          <p:cNvCxnSpPr>
            <a:endCxn id="10" idx="1"/>
          </p:cNvCxnSpPr>
          <p:nvPr/>
        </p:nvCxnSpPr>
        <p:spPr>
          <a:xfrm flipV="1">
            <a:off x="7176955" y="3714750"/>
            <a:ext cx="764538" cy="314325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6" idx="3"/>
            <a:endCxn id="15" idx="1"/>
          </p:cNvCxnSpPr>
          <p:nvPr/>
        </p:nvCxnSpPr>
        <p:spPr>
          <a:xfrm>
            <a:off x="7176955" y="5177551"/>
            <a:ext cx="764537" cy="160259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20" idx="1"/>
            <a:endCxn id="10" idx="3"/>
          </p:cNvCxnSpPr>
          <p:nvPr/>
        </p:nvCxnSpPr>
        <p:spPr>
          <a:xfrm flipH="1">
            <a:off x="9475018" y="3653790"/>
            <a:ext cx="807213" cy="6096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21" idx="1"/>
            <a:endCxn id="15" idx="3"/>
          </p:cNvCxnSpPr>
          <p:nvPr/>
        </p:nvCxnSpPr>
        <p:spPr>
          <a:xfrm flipH="1">
            <a:off x="9475017" y="4711066"/>
            <a:ext cx="807214" cy="62674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26" idx="1"/>
            <a:endCxn id="10" idx="3"/>
          </p:cNvCxnSpPr>
          <p:nvPr/>
        </p:nvCxnSpPr>
        <p:spPr>
          <a:xfrm flipH="1" flipV="1">
            <a:off x="9475018" y="3714750"/>
            <a:ext cx="807213" cy="2035138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왼쪽으로 구부러진 화살표 8"/>
          <p:cNvSpPr/>
          <p:nvPr/>
        </p:nvSpPr>
        <p:spPr>
          <a:xfrm>
            <a:off x="11337028" y="3569350"/>
            <a:ext cx="731520" cy="2489147"/>
          </a:xfrm>
          <a:prstGeom prst="curved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7" name="내용 개체 틀 8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21970"/>
          <a:stretch/>
        </p:blipFill>
        <p:spPr>
          <a:xfrm>
            <a:off x="7807530" y="298000"/>
            <a:ext cx="4233751" cy="207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7536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4 </a:t>
            </a:r>
            <a:r>
              <a:rPr lang="ko-KR" altLang="en-US" dirty="0"/>
              <a:t>다시 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338448" cy="402336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h1</a:t>
            </a:r>
            <a:r>
              <a:rPr lang="ko-KR" altLang="en-US" dirty="0"/>
              <a:t>에 </a:t>
            </a:r>
            <a:r>
              <a:rPr lang="en-US" altLang="ko-KR" dirty="0"/>
              <a:t>h2</a:t>
            </a:r>
            <a:r>
              <a:rPr lang="ko-KR" altLang="en-US" dirty="0"/>
              <a:t>의 값을 넣습니다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그러면 어떻게 될까요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en-US" dirty="0"/>
              <a:t>그러면 원래 </a:t>
            </a:r>
            <a:r>
              <a:rPr lang="en-US" altLang="ko-KR" dirty="0"/>
              <a:t>swap</a:t>
            </a:r>
            <a:r>
              <a:rPr lang="ko-KR" altLang="en-US" dirty="0"/>
              <a:t>의 </a:t>
            </a:r>
            <a:r>
              <a:rPr lang="en-US" altLang="ko-KR" dirty="0"/>
              <a:t>h2</a:t>
            </a:r>
            <a:r>
              <a:rPr lang="ko-KR" altLang="en-US" dirty="0"/>
              <a:t>가 바라보던 것을 </a:t>
            </a:r>
            <a:r>
              <a:rPr lang="en-US" altLang="ko-KR" dirty="0"/>
              <a:t>swap</a:t>
            </a:r>
            <a:r>
              <a:rPr lang="ko-KR" altLang="en-US" dirty="0"/>
              <a:t>의 </a:t>
            </a:r>
            <a:r>
              <a:rPr lang="en-US" altLang="ko-KR" dirty="0"/>
              <a:t>h1</a:t>
            </a:r>
            <a:r>
              <a:rPr lang="ko-KR" altLang="en-US" dirty="0"/>
              <a:t>도 함께 바라보겠네요</a:t>
            </a:r>
            <a:r>
              <a:rPr lang="en-US" altLang="ko-KR" dirty="0"/>
              <a:t>?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5774493" y="3377327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241380" y="2931795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938705" y="3714512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941493" y="2977514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3</a:t>
            </a:r>
            <a:endParaRPr lang="ko-KR" altLang="en-US" dirty="0"/>
          </a:p>
        </p:txBody>
      </p:sp>
      <p:sp>
        <p:nvSpPr>
          <p:cNvPr id="14" name="오른쪽 화살표 13"/>
          <p:cNvSpPr/>
          <p:nvPr/>
        </p:nvSpPr>
        <p:spPr>
          <a:xfrm>
            <a:off x="8008224" y="1930408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7941492" y="4600574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5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5938705" y="4868941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h2</a:t>
            </a:r>
            <a:endParaRPr lang="ko-KR" altLang="en-US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0118019" y="3007994"/>
            <a:ext cx="1524000" cy="33013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0584906" y="2562463"/>
            <a:ext cx="61427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swap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10282231" y="3345180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10282231" y="4402456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h2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10282231" y="5441278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  <a:endParaRPr lang="ko-KR" altLang="en-US" dirty="0"/>
          </a:p>
        </p:txBody>
      </p:sp>
      <p:cxnSp>
        <p:nvCxnSpPr>
          <p:cNvPr id="29" name="직선 화살표 연결선 28"/>
          <p:cNvCxnSpPr>
            <a:endCxn id="10" idx="1"/>
          </p:cNvCxnSpPr>
          <p:nvPr/>
        </p:nvCxnSpPr>
        <p:spPr>
          <a:xfrm flipV="1">
            <a:off x="7176955" y="3714750"/>
            <a:ext cx="764538" cy="314325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6" idx="3"/>
            <a:endCxn id="15" idx="1"/>
          </p:cNvCxnSpPr>
          <p:nvPr/>
        </p:nvCxnSpPr>
        <p:spPr>
          <a:xfrm>
            <a:off x="7176955" y="5177551"/>
            <a:ext cx="764537" cy="160259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20" idx="1"/>
            <a:endCxn id="15" idx="3"/>
          </p:cNvCxnSpPr>
          <p:nvPr/>
        </p:nvCxnSpPr>
        <p:spPr>
          <a:xfrm flipH="1">
            <a:off x="9475017" y="3653790"/>
            <a:ext cx="807214" cy="168402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21" idx="1"/>
            <a:endCxn id="15" idx="3"/>
          </p:cNvCxnSpPr>
          <p:nvPr/>
        </p:nvCxnSpPr>
        <p:spPr>
          <a:xfrm flipH="1">
            <a:off x="9475017" y="4711066"/>
            <a:ext cx="807214" cy="62674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26" idx="1"/>
            <a:endCxn id="10" idx="3"/>
          </p:cNvCxnSpPr>
          <p:nvPr/>
        </p:nvCxnSpPr>
        <p:spPr>
          <a:xfrm flipH="1" flipV="1">
            <a:off x="9475018" y="3714750"/>
            <a:ext cx="807213" cy="2035138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4" name="내용 개체 틀 8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21970"/>
          <a:stretch/>
        </p:blipFill>
        <p:spPr>
          <a:xfrm>
            <a:off x="7798005" y="298000"/>
            <a:ext cx="4233751" cy="2079823"/>
          </a:xfrm>
          <a:prstGeom prst="rect">
            <a:avLst/>
          </a:prstGeom>
        </p:spPr>
      </p:pic>
      <p:sp>
        <p:nvSpPr>
          <p:cNvPr id="5" name="오른쪽으로 구부러진 화살표 4"/>
          <p:cNvSpPr/>
          <p:nvPr/>
        </p:nvSpPr>
        <p:spPr>
          <a:xfrm rot="10800000">
            <a:off x="11337028" y="3514725"/>
            <a:ext cx="731520" cy="1308926"/>
          </a:xfrm>
          <a:prstGeom prst="curv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514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내용 개체 틀 8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21970"/>
          <a:stretch/>
        </p:blipFill>
        <p:spPr>
          <a:xfrm>
            <a:off x="7798005" y="298000"/>
            <a:ext cx="4233751" cy="207982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4 </a:t>
            </a:r>
            <a:r>
              <a:rPr lang="ko-KR" altLang="en-US" dirty="0"/>
              <a:t>다시 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338448" cy="402336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이제 마지막입니다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h2</a:t>
            </a:r>
            <a:r>
              <a:rPr lang="ko-KR" altLang="en-US" dirty="0"/>
              <a:t>에 </a:t>
            </a:r>
            <a:r>
              <a:rPr lang="en-US" altLang="ko-KR" dirty="0"/>
              <a:t>temp</a:t>
            </a:r>
            <a:r>
              <a:rPr lang="ko-KR" altLang="en-US" dirty="0"/>
              <a:t>의 값을 넣겠습니다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그러면 </a:t>
            </a:r>
            <a:r>
              <a:rPr lang="en-US" altLang="ko-KR" dirty="0"/>
              <a:t>temp</a:t>
            </a:r>
            <a:r>
              <a:rPr lang="ko-KR" altLang="en-US" dirty="0"/>
              <a:t>가 보는 것을 </a:t>
            </a:r>
            <a:r>
              <a:rPr lang="en-US" altLang="ko-KR" dirty="0"/>
              <a:t>h2</a:t>
            </a:r>
            <a:r>
              <a:rPr lang="ko-KR" altLang="en-US" dirty="0"/>
              <a:t>가 같이 보게 되겠지요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swap</a:t>
            </a:r>
            <a:r>
              <a:rPr lang="ko-KR" altLang="en-US" dirty="0"/>
              <a:t>의 내부에서는 </a:t>
            </a:r>
            <a:r>
              <a:rPr lang="en-US" altLang="ko-KR" dirty="0"/>
              <a:t>h1</a:t>
            </a:r>
            <a:r>
              <a:rPr lang="ko-KR" altLang="en-US" dirty="0"/>
              <a:t>과 </a:t>
            </a:r>
            <a:r>
              <a:rPr lang="en-US" altLang="ko-KR" dirty="0"/>
              <a:t>h2</a:t>
            </a:r>
            <a:r>
              <a:rPr lang="ko-KR" altLang="en-US" dirty="0"/>
              <a:t>가 보는 것이 서로 바뀐 것을 확인할 수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하지만</a:t>
            </a:r>
            <a:r>
              <a:rPr lang="en-US" altLang="ko-KR" dirty="0"/>
              <a:t>… main</a:t>
            </a:r>
            <a:r>
              <a:rPr lang="ko-KR" altLang="en-US" dirty="0"/>
              <a:t>은 어떻지요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en-US" dirty="0"/>
              <a:t>이 상태로 </a:t>
            </a:r>
            <a:r>
              <a:rPr lang="en-US" altLang="ko-KR" dirty="0"/>
              <a:t>swap</a:t>
            </a:r>
            <a:r>
              <a:rPr lang="ko-KR" altLang="en-US" dirty="0"/>
              <a:t>이 종료되어도</a:t>
            </a:r>
            <a:br>
              <a:rPr lang="en-US" altLang="ko-KR" dirty="0"/>
            </a:br>
            <a:r>
              <a:rPr lang="ko-KR" altLang="en-US" dirty="0"/>
              <a:t>전혀 바뀌지 않았습니다</a:t>
            </a:r>
            <a:r>
              <a:rPr lang="en-US" altLang="ko-KR" dirty="0"/>
              <a:t>.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5774493" y="3377327"/>
            <a:ext cx="1524000" cy="2503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241380" y="2931795"/>
            <a:ext cx="5902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938705" y="3714512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941493" y="2977514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3</a:t>
            </a:r>
            <a:endParaRPr lang="ko-KR" altLang="en-US" dirty="0"/>
          </a:p>
        </p:txBody>
      </p:sp>
      <p:sp>
        <p:nvSpPr>
          <p:cNvPr id="14" name="오른쪽 화살표 13"/>
          <p:cNvSpPr/>
          <p:nvPr/>
        </p:nvSpPr>
        <p:spPr>
          <a:xfrm>
            <a:off x="7979592" y="2080641"/>
            <a:ext cx="241094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7941492" y="4600574"/>
            <a:ext cx="1533525" cy="147447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IntegerHolder</a:t>
            </a:r>
            <a:endParaRPr lang="en-US" altLang="ko-KR" dirty="0"/>
          </a:p>
          <a:p>
            <a:pPr algn="ctr"/>
            <a:r>
              <a:rPr lang="en-US" altLang="ko-KR" dirty="0"/>
              <a:t>Instance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i: 5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5938705" y="4868941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h2</a:t>
            </a:r>
            <a:endParaRPr lang="ko-KR" altLang="en-US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0118019" y="3007994"/>
            <a:ext cx="1524000" cy="33013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0584906" y="2562463"/>
            <a:ext cx="61427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swap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10282231" y="3345180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h1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10282231" y="4402456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h2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10282231" y="5441278"/>
            <a:ext cx="1238250" cy="617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</a:t>
            </a:r>
            <a:endParaRPr lang="ko-KR" altLang="en-US" dirty="0"/>
          </a:p>
        </p:txBody>
      </p:sp>
      <p:cxnSp>
        <p:nvCxnSpPr>
          <p:cNvPr id="29" name="직선 화살표 연결선 28"/>
          <p:cNvCxnSpPr>
            <a:endCxn id="10" idx="1"/>
          </p:cNvCxnSpPr>
          <p:nvPr/>
        </p:nvCxnSpPr>
        <p:spPr>
          <a:xfrm flipV="1">
            <a:off x="7176955" y="3714750"/>
            <a:ext cx="764538" cy="314325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6" idx="3"/>
            <a:endCxn id="15" idx="1"/>
          </p:cNvCxnSpPr>
          <p:nvPr/>
        </p:nvCxnSpPr>
        <p:spPr>
          <a:xfrm>
            <a:off x="7176955" y="5177551"/>
            <a:ext cx="764537" cy="160259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20" idx="1"/>
            <a:endCxn id="15" idx="3"/>
          </p:cNvCxnSpPr>
          <p:nvPr/>
        </p:nvCxnSpPr>
        <p:spPr>
          <a:xfrm flipH="1">
            <a:off x="9475017" y="3653790"/>
            <a:ext cx="807214" cy="168402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21" idx="1"/>
            <a:endCxn id="10" idx="3"/>
          </p:cNvCxnSpPr>
          <p:nvPr/>
        </p:nvCxnSpPr>
        <p:spPr>
          <a:xfrm flipH="1" flipV="1">
            <a:off x="9475018" y="3714750"/>
            <a:ext cx="807213" cy="99631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26" idx="1"/>
            <a:endCxn id="10" idx="3"/>
          </p:cNvCxnSpPr>
          <p:nvPr/>
        </p:nvCxnSpPr>
        <p:spPr>
          <a:xfrm flipH="1" flipV="1">
            <a:off x="9475018" y="3714750"/>
            <a:ext cx="807213" cy="2035138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오른쪽으로 구부러진 화살표 4"/>
          <p:cNvSpPr/>
          <p:nvPr/>
        </p:nvSpPr>
        <p:spPr>
          <a:xfrm rot="10800000">
            <a:off x="11215490" y="4539328"/>
            <a:ext cx="731520" cy="1308926"/>
          </a:xfrm>
          <a:prstGeom prst="curv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9193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Call-By-Reference</a:t>
            </a:r>
            <a:r>
              <a:rPr lang="ko-KR" altLang="en-US" dirty="0"/>
              <a:t>는 뭐예요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지금까지의 설명 중에서 제일 중요한 것은 </a:t>
            </a:r>
            <a:r>
              <a:rPr lang="en-US" altLang="ko-KR" dirty="0"/>
              <a:t>Java</a:t>
            </a:r>
            <a:r>
              <a:rPr lang="ko-KR" altLang="en-US" dirty="0"/>
              <a:t>가 </a:t>
            </a:r>
            <a:r>
              <a:rPr lang="en-US" altLang="ko-KR" dirty="0"/>
              <a:t>pass-by-value</a:t>
            </a:r>
            <a:r>
              <a:rPr lang="ko-KR" altLang="en-US" dirty="0"/>
              <a:t>를 사용한다는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그러니까 </a:t>
            </a:r>
            <a:r>
              <a:rPr lang="en-US" altLang="ko-KR" dirty="0"/>
              <a:t>object type</a:t>
            </a:r>
            <a:r>
              <a:rPr lang="ko-KR" altLang="en-US" dirty="0"/>
              <a:t>은 </a:t>
            </a:r>
            <a:r>
              <a:rPr lang="en-US" altLang="ko-KR" dirty="0"/>
              <a:t>pass-by-reference</a:t>
            </a:r>
            <a:r>
              <a:rPr lang="ko-KR" altLang="en-US" dirty="0"/>
              <a:t>한다는 거 다 </a:t>
            </a:r>
            <a:r>
              <a:rPr lang="ko-KR" altLang="en-US" dirty="0" err="1"/>
              <a:t>뻥이에요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부분이 실제 코딩할 때 헷갈리기 쉬운 부분이니 조심하시기 바라요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그러면 </a:t>
            </a:r>
            <a:r>
              <a:rPr lang="en-US" altLang="ko-KR" dirty="0"/>
              <a:t>call-by-reference</a:t>
            </a:r>
            <a:r>
              <a:rPr lang="ko-KR" altLang="en-US" dirty="0"/>
              <a:t>는 무엇이냐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그 질문에 대한 답은 이 슬라이드의 난이도를 너무 높일 것 같아요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간략하게 </a:t>
            </a:r>
            <a:r>
              <a:rPr lang="ko-KR" altLang="en-US" dirty="0" err="1"/>
              <a:t>설명드리면</a:t>
            </a:r>
            <a:r>
              <a:rPr lang="ko-KR" altLang="en-US" dirty="0"/>
              <a:t> </a:t>
            </a:r>
            <a:r>
              <a:rPr lang="en-US" altLang="ko-KR" dirty="0" err="1"/>
              <a:t>callee</a:t>
            </a:r>
            <a:r>
              <a:rPr lang="ko-KR" altLang="en-US" dirty="0"/>
              <a:t>의 </a:t>
            </a:r>
            <a:r>
              <a:rPr lang="en-US" altLang="ko-KR" dirty="0"/>
              <a:t>parameter</a:t>
            </a:r>
            <a:r>
              <a:rPr lang="ko-KR" altLang="en-US" dirty="0"/>
              <a:t>의 값이 변하면 </a:t>
            </a:r>
            <a:r>
              <a:rPr lang="en-US" altLang="ko-KR" dirty="0"/>
              <a:t>caller</a:t>
            </a:r>
            <a:r>
              <a:rPr lang="ko-KR" altLang="en-US" dirty="0"/>
              <a:t>의 변수 값도 같이 변하는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더 깊게 알고 싶으신 용자가 있으시면 끝나고 물어보세요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24981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수고하셨습니다</a:t>
            </a: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877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전체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사용자 지정 2">
      <a:majorFont>
        <a:latin typeface="나눔손글씨 펜"/>
        <a:ea typeface="나눔손글씨 붓"/>
        <a:cs typeface=""/>
      </a:majorFont>
      <a:minorFont>
        <a:latin typeface="나눔바른펜"/>
        <a:ea typeface="나눔바른펜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314</TotalTime>
  <Words>1498</Words>
  <Application>Microsoft Office PowerPoint</Application>
  <PresentationFormat>와이드스크린</PresentationFormat>
  <Paragraphs>352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3" baseType="lpstr">
      <vt:lpstr>나눔바른펜</vt:lpstr>
      <vt:lpstr>나눔손글씨 붓</vt:lpstr>
      <vt:lpstr>나눔손글씨 펜</vt:lpstr>
      <vt:lpstr>Arial</vt:lpstr>
      <vt:lpstr>Tw Cen MT</vt:lpstr>
      <vt:lpstr>Wingdings 3</vt:lpstr>
      <vt:lpstr>전체</vt:lpstr>
      <vt:lpstr>Exception Handling &amp; Parameter Passing</vt:lpstr>
      <vt:lpstr>Contents</vt:lpstr>
      <vt:lpstr>Exception Handling</vt:lpstr>
      <vt:lpstr>Java의 Exception Handling</vt:lpstr>
      <vt:lpstr>Exception Handling의 순서?</vt:lpstr>
      <vt:lpstr>이번엔 삼각형입니다.</vt:lpstr>
      <vt:lpstr>직각삼각형의 넓이를 구하자~</vt:lpstr>
      <vt:lpstr>잠깐! 만약에요…</vt:lpstr>
      <vt:lpstr>3개가 아니라니까!</vt:lpstr>
      <vt:lpstr>그렇다면 삼각형에는…</vt:lpstr>
      <vt:lpstr>Eclipse는 참 편리하죠?</vt:lpstr>
      <vt:lpstr>점이 이렇게 들어온다면?</vt:lpstr>
      <vt:lpstr>음… 이런 경우는요?</vt:lpstr>
      <vt:lpstr>일직선이라니…</vt:lpstr>
      <vt:lpstr>그리고 삼각형에도!</vt:lpstr>
      <vt:lpstr>이런 코드가 되겠지요?</vt:lpstr>
      <vt:lpstr>끝내기 전에!</vt:lpstr>
      <vt:lpstr>우리의 친구 NullPointerException!</vt:lpstr>
      <vt:lpstr>Parameter Passing</vt:lpstr>
      <vt:lpstr>이번 장은 여러분이 싫어할 것 같아요.</vt:lpstr>
      <vt:lpstr>Java의 Parameter Passing</vt:lpstr>
      <vt:lpstr>이제부터 문제가 나갑니다.</vt:lpstr>
      <vt:lpstr>문제 1</vt:lpstr>
      <vt:lpstr>문제 2</vt:lpstr>
      <vt:lpstr>문제 3</vt:lpstr>
      <vt:lpstr>문제 4</vt:lpstr>
      <vt:lpstr>아니 왜?</vt:lpstr>
      <vt:lpstr>C++의 경우?</vt:lpstr>
      <vt:lpstr>Pass-by-Value</vt:lpstr>
      <vt:lpstr>문제 1 다시 보기</vt:lpstr>
      <vt:lpstr>문제 1 다시 보기</vt:lpstr>
      <vt:lpstr>문제 1 다시 보기</vt:lpstr>
      <vt:lpstr>문제 1 다시 보기</vt:lpstr>
      <vt:lpstr>그럼 문제 2는요?</vt:lpstr>
      <vt:lpstr>문제 2 다시 보기</vt:lpstr>
      <vt:lpstr>문제 2 다시 보기</vt:lpstr>
      <vt:lpstr>문제 2 다시 보기</vt:lpstr>
      <vt:lpstr>문제 2 다시 보기</vt:lpstr>
      <vt:lpstr>문제 2 다시 보기</vt:lpstr>
      <vt:lpstr>문제 4 다시 보기</vt:lpstr>
      <vt:lpstr>문제 4 다시 보기</vt:lpstr>
      <vt:lpstr>문제 4 다시 보기</vt:lpstr>
      <vt:lpstr>문제 4 다시 보기</vt:lpstr>
      <vt:lpstr>문제 4 다시 보기</vt:lpstr>
      <vt:lpstr>Call-By-Reference는 뭐예요?</vt:lpstr>
      <vt:lpstr>수고하셨습니다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 &amp; parameter Passing</dc:title>
  <dc:creator>신용호</dc:creator>
  <cp:lastModifiedBy>신용호</cp:lastModifiedBy>
  <cp:revision>38</cp:revision>
  <dcterms:created xsi:type="dcterms:W3CDTF">2016-08-14T06:20:38Z</dcterms:created>
  <dcterms:modified xsi:type="dcterms:W3CDTF">2016-08-14T11:35:34Z</dcterms:modified>
</cp:coreProperties>
</file>